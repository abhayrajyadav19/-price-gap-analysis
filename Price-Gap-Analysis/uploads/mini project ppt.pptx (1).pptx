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oto Serif Bold" charset="1" panose="02020800060500020200"/>
      <p:regular r:id="rId18"/>
    </p:embeddedFont>
    <p:embeddedFont>
      <p:font typeface="Arimo" charset="1" panose="020B0604020202020204"/>
      <p:regular r:id="rId19"/>
    </p:embeddedFont>
    <p:embeddedFont>
      <p:font typeface="Noto Serif" charset="1" panose="02020600060500020200"/>
      <p:regular r:id="rId21"/>
    </p:embeddedFont>
    <p:embeddedFont>
      <p:font typeface="Arimo Bold" charset="1" panose="020B07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489105" y="1574601"/>
            <a:ext cx="9445526" cy="18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Reinforcement Learning for Smart Microgrids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14441" y="3700388"/>
            <a:ext cx="8994854" cy="55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27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Optimizing Energy Management for a Sustainable Future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64457" y="6983280"/>
            <a:ext cx="12835193" cy="180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9"/>
              </a:lnSpc>
            </a:pPr>
            <a:r>
              <a:rPr lang="en-US" sz="297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Abhay Raj Yadav(1AT23CG004)    </a:t>
            </a:r>
          </a:p>
          <a:p>
            <a:pPr algn="l">
              <a:lnSpc>
                <a:spcPts val="4839"/>
              </a:lnSpc>
            </a:pPr>
            <a:r>
              <a:rPr lang="en-US" sz="297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Arpit Singh(1AT23CG019)                           </a:t>
            </a:r>
          </a:p>
          <a:p>
            <a:pPr algn="l">
              <a:lnSpc>
                <a:spcPts val="4840"/>
              </a:lnSpc>
            </a:pPr>
            <a:r>
              <a:rPr lang="en-US" sz="297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Ayush Singh(1AT23CG030)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89105" y="4683559"/>
            <a:ext cx="9445526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     Course-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177852" y="1557978"/>
            <a:ext cx="7648630" cy="98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8"/>
              </a:lnSpc>
            </a:pPr>
            <a:r>
              <a:rPr lang="en-US" sz="5934" b="true">
                <a:solidFill>
                  <a:srgbClr val="E851B2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09156"/>
            <a:ext cx="14826406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Empowering Sustainable Energy Systems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263181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Noto Serif"/>
                <a:ea typeface="Noto Serif"/>
                <a:cs typeface="Noto Serif"/>
                <a:sym typeface="Noto Serif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4792712"/>
            <a:ext cx="5245447" cy="38100"/>
            <a:chOff x="0" y="0"/>
            <a:chExt cx="699393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4991546"/>
            <a:ext cx="5245447" cy="108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The Challenge: Microgrid Complexity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2" y="4263181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Noto Serif"/>
                <a:ea typeface="Noto Serif"/>
                <a:cs typeface="Noto Serif"/>
                <a:sym typeface="Noto Serif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2" y="4792712"/>
            <a:ext cx="5245447" cy="38100"/>
            <a:chOff x="0" y="0"/>
            <a:chExt cx="699393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2" y="4991546"/>
            <a:ext cx="5245447" cy="108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RL Fundamentals for Energy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0166" y="4263181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Noto Serif"/>
                <a:ea typeface="Noto Serif"/>
                <a:cs typeface="Noto Serif"/>
                <a:sym typeface="Noto Serif"/>
              </a:rPr>
              <a:t>03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50166" y="4792712"/>
            <a:ext cx="5245447" cy="38100"/>
            <a:chOff x="0" y="0"/>
            <a:chExt cx="6993930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050166" y="4991546"/>
            <a:ext cx="5245447" cy="108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Building Your RL Microgrid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6484144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Noto Serif"/>
                <a:ea typeface="Noto Serif"/>
                <a:cs typeface="Noto Serif"/>
                <a:sym typeface="Noto Serif"/>
              </a:rPr>
              <a:t>04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7013674"/>
            <a:ext cx="8009930" cy="38100"/>
            <a:chOff x="0" y="0"/>
            <a:chExt cx="10679907" cy="50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92238" y="7212509"/>
            <a:ext cx="7722989" cy="55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Key Decision Variables &amp; Objectives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85685" y="6484144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Noto Serif"/>
                <a:ea typeface="Noto Serif"/>
                <a:cs typeface="Noto Serif"/>
                <a:sym typeface="Noto Serif"/>
              </a:rPr>
              <a:t>05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85685" y="7013674"/>
            <a:ext cx="8009930" cy="38100"/>
            <a:chOff x="0" y="0"/>
            <a:chExt cx="10679907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285685" y="7212509"/>
            <a:ext cx="6364486" cy="55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Expected Outcomes &amp; Impact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02047" y="680145"/>
            <a:ext cx="13971240" cy="83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Beyond the Simulation: Real-World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2047" y="2018259"/>
            <a:ext cx="7927627" cy="207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599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Your work contributes directly to global sustainability goals. This innovative RL approach is a cutting-edge method for energy management, applicable far beyond your simulation.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2047" y="5066714"/>
            <a:ext cx="7927627" cy="98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030" indent="-188515" lvl="1">
              <a:lnSpc>
                <a:spcPts val="3984"/>
              </a:lnSpc>
              <a:buFont typeface="Arial"/>
              <a:buChar char="•"/>
            </a:pPr>
            <a:r>
              <a:rPr lang="en-US" b="true" sz="2499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SDG 7: Affordable and Clean Energy</a:t>
            </a:r>
            <a:r>
              <a:rPr lang="en-US" sz="2499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- By optimizing energy use and integration of renewables.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2047" y="6939547"/>
            <a:ext cx="7927627" cy="98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030" indent="-188515" lvl="1">
              <a:lnSpc>
                <a:spcPts val="3984"/>
              </a:lnSpc>
              <a:buFont typeface="Arial"/>
              <a:buChar char="•"/>
            </a:pPr>
            <a:r>
              <a:rPr lang="en-US" b="true" sz="2499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SDG 13: Climate Action</a:t>
            </a:r>
            <a:r>
              <a:rPr lang="en-US" sz="2499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- By minimizing reliance on carbon-intensive energy sources.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467850" y="2190601"/>
            <a:ext cx="7927627" cy="7927628"/>
            <a:chOff x="0" y="0"/>
            <a:chExt cx="10570170" cy="1057017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570210" cy="10570210"/>
            </a:xfrm>
            <a:custGeom>
              <a:avLst/>
              <a:gdLst/>
              <a:ahLst/>
              <a:cxnLst/>
              <a:rect r="r" b="b" t="t" l="l"/>
              <a:pathLst>
                <a:path h="10570210" w="10570210">
                  <a:moveTo>
                    <a:pt x="0" y="0"/>
                  </a:moveTo>
                  <a:lnTo>
                    <a:pt x="10570210" y="0"/>
                  </a:lnTo>
                  <a:lnTo>
                    <a:pt x="10570210" y="10570210"/>
                  </a:lnTo>
                  <a:lnTo>
                    <a:pt x="0" y="10570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706761"/>
            <a:ext cx="11002864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851B2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Why Reinforcement Learning?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83570"/>
            <a:ext cx="1630352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Traditional rule-based systems struggle with the dynamic nature of microgrids. RL provides an adaptive solution, allowing an agent to learn optimal policies through trial and error, just like a human operator would, but at a far greater scale and speed.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5" y="4409777"/>
            <a:ext cx="5254973" cy="4146500"/>
            <a:chOff x="0" y="0"/>
            <a:chExt cx="7006630" cy="5528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6993890" cy="5515991"/>
            </a:xfrm>
            <a:custGeom>
              <a:avLst/>
              <a:gdLst/>
              <a:ahLst/>
              <a:cxnLst/>
              <a:rect r="r" b="b" t="t" l="l"/>
              <a:pathLst>
                <a:path h="5515991" w="6993890">
                  <a:moveTo>
                    <a:pt x="0" y="340233"/>
                  </a:moveTo>
                  <a:cubicBezTo>
                    <a:pt x="0" y="152273"/>
                    <a:pt x="152400" y="0"/>
                    <a:pt x="340360" y="0"/>
                  </a:cubicBezTo>
                  <a:lnTo>
                    <a:pt x="6653530" y="0"/>
                  </a:lnTo>
                  <a:cubicBezTo>
                    <a:pt x="6841490" y="0"/>
                    <a:pt x="6993890" y="152273"/>
                    <a:pt x="6993890" y="340233"/>
                  </a:cubicBezTo>
                  <a:lnTo>
                    <a:pt x="6993890" y="5175758"/>
                  </a:lnTo>
                  <a:cubicBezTo>
                    <a:pt x="6993890" y="5363718"/>
                    <a:pt x="6841490" y="5515991"/>
                    <a:pt x="6653530" y="5515991"/>
                  </a:cubicBezTo>
                  <a:lnTo>
                    <a:pt x="340360" y="5515991"/>
                  </a:lnTo>
                  <a:cubicBezTo>
                    <a:pt x="152400" y="5515991"/>
                    <a:pt x="0" y="5363591"/>
                    <a:pt x="0" y="5175758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06590" cy="5528691"/>
            </a:xfrm>
            <a:custGeom>
              <a:avLst/>
              <a:gdLst/>
              <a:ahLst/>
              <a:cxnLst/>
              <a:rect r="r" b="b" t="t" l="l"/>
              <a:pathLst>
                <a:path h="5528691" w="7006590">
                  <a:moveTo>
                    <a:pt x="0" y="346583"/>
                  </a:moveTo>
                  <a:cubicBezTo>
                    <a:pt x="0" y="155194"/>
                    <a:pt x="155194" y="0"/>
                    <a:pt x="346710" y="0"/>
                  </a:cubicBezTo>
                  <a:lnTo>
                    <a:pt x="6659880" y="0"/>
                  </a:lnTo>
                  <a:lnTo>
                    <a:pt x="6659880" y="6350"/>
                  </a:lnTo>
                  <a:lnTo>
                    <a:pt x="6659880" y="0"/>
                  </a:lnTo>
                  <a:cubicBezTo>
                    <a:pt x="6851397" y="0"/>
                    <a:pt x="7006590" y="155194"/>
                    <a:pt x="7006590" y="346583"/>
                  </a:cubicBezTo>
                  <a:lnTo>
                    <a:pt x="7000240" y="346583"/>
                  </a:lnTo>
                  <a:lnTo>
                    <a:pt x="7006590" y="346583"/>
                  </a:lnTo>
                  <a:lnTo>
                    <a:pt x="7006590" y="5182108"/>
                  </a:lnTo>
                  <a:lnTo>
                    <a:pt x="7000240" y="5182108"/>
                  </a:lnTo>
                  <a:lnTo>
                    <a:pt x="7006590" y="5182108"/>
                  </a:lnTo>
                  <a:cubicBezTo>
                    <a:pt x="7006590" y="5373497"/>
                    <a:pt x="6851397" y="5528691"/>
                    <a:pt x="6659880" y="5528691"/>
                  </a:cubicBezTo>
                  <a:lnTo>
                    <a:pt x="6659880" y="5522341"/>
                  </a:lnTo>
                  <a:lnTo>
                    <a:pt x="6659880" y="5528691"/>
                  </a:lnTo>
                  <a:lnTo>
                    <a:pt x="346710" y="5528691"/>
                  </a:lnTo>
                  <a:lnTo>
                    <a:pt x="346710" y="5522341"/>
                  </a:lnTo>
                  <a:lnTo>
                    <a:pt x="346710" y="5528691"/>
                  </a:lnTo>
                  <a:cubicBezTo>
                    <a:pt x="155194" y="5528691"/>
                    <a:pt x="0" y="5373497"/>
                    <a:pt x="0" y="5182108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82108"/>
                  </a:lnTo>
                  <a:lnTo>
                    <a:pt x="6350" y="5182108"/>
                  </a:lnTo>
                  <a:lnTo>
                    <a:pt x="12700" y="5182108"/>
                  </a:lnTo>
                  <a:cubicBezTo>
                    <a:pt x="12700" y="5366512"/>
                    <a:pt x="162306" y="5515991"/>
                    <a:pt x="346710" y="5515991"/>
                  </a:cubicBezTo>
                  <a:lnTo>
                    <a:pt x="6659880" y="5515991"/>
                  </a:lnTo>
                  <a:cubicBezTo>
                    <a:pt x="6844412" y="5515991"/>
                    <a:pt x="6993890" y="5366512"/>
                    <a:pt x="6993890" y="5182108"/>
                  </a:cubicBezTo>
                  <a:lnTo>
                    <a:pt x="6993890" y="346583"/>
                  </a:lnTo>
                  <a:cubicBezTo>
                    <a:pt x="6993890" y="162179"/>
                    <a:pt x="6844411" y="12700"/>
                    <a:pt x="6659880" y="12700"/>
                  </a:cubicBezTo>
                  <a:lnTo>
                    <a:pt x="346710" y="12700"/>
                  </a:lnTo>
                  <a:lnTo>
                    <a:pt x="346710" y="6350"/>
                  </a:lnTo>
                  <a:lnTo>
                    <a:pt x="346710" y="12700"/>
                  </a:lnTo>
                  <a:cubicBezTo>
                    <a:pt x="162306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5280" y="4707582"/>
            <a:ext cx="850552" cy="850552"/>
            <a:chOff x="0" y="0"/>
            <a:chExt cx="1134070" cy="1134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19238" y="4893618"/>
            <a:ext cx="382637" cy="478334"/>
            <a:chOff x="0" y="0"/>
            <a:chExt cx="510183" cy="63777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10159" cy="637794"/>
            </a:xfrm>
            <a:custGeom>
              <a:avLst/>
              <a:gdLst/>
              <a:ahLst/>
              <a:cxnLst/>
              <a:rect r="r" b="b" t="t" l="l"/>
              <a:pathLst>
                <a:path h="637794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637794"/>
                  </a:lnTo>
                  <a:lnTo>
                    <a:pt x="0" y="637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" t="0" r="-8" b="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85280" y="5832127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Adaptive Learning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280" y="6349901"/>
            <a:ext cx="4659362" cy="146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Learns optimal strategies from environmental feedback, rather than rigid programming.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16440" y="4409777"/>
            <a:ext cx="5254973" cy="4146500"/>
            <a:chOff x="0" y="0"/>
            <a:chExt cx="7006630" cy="55286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6993890" cy="5515991"/>
            </a:xfrm>
            <a:custGeom>
              <a:avLst/>
              <a:gdLst/>
              <a:ahLst/>
              <a:cxnLst/>
              <a:rect r="r" b="b" t="t" l="l"/>
              <a:pathLst>
                <a:path h="5515991" w="6993890">
                  <a:moveTo>
                    <a:pt x="0" y="340233"/>
                  </a:moveTo>
                  <a:cubicBezTo>
                    <a:pt x="0" y="152273"/>
                    <a:pt x="152400" y="0"/>
                    <a:pt x="340360" y="0"/>
                  </a:cubicBezTo>
                  <a:lnTo>
                    <a:pt x="6653530" y="0"/>
                  </a:lnTo>
                  <a:cubicBezTo>
                    <a:pt x="6841490" y="0"/>
                    <a:pt x="6993890" y="152273"/>
                    <a:pt x="6993890" y="340233"/>
                  </a:cubicBezTo>
                  <a:lnTo>
                    <a:pt x="6993890" y="5175758"/>
                  </a:lnTo>
                  <a:cubicBezTo>
                    <a:pt x="6993890" y="5363718"/>
                    <a:pt x="6841490" y="5515991"/>
                    <a:pt x="6653530" y="5515991"/>
                  </a:cubicBezTo>
                  <a:lnTo>
                    <a:pt x="340360" y="5515991"/>
                  </a:lnTo>
                  <a:cubicBezTo>
                    <a:pt x="152400" y="5515991"/>
                    <a:pt x="0" y="5363591"/>
                    <a:pt x="0" y="5175758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06590" cy="5528691"/>
            </a:xfrm>
            <a:custGeom>
              <a:avLst/>
              <a:gdLst/>
              <a:ahLst/>
              <a:cxnLst/>
              <a:rect r="r" b="b" t="t" l="l"/>
              <a:pathLst>
                <a:path h="5528691" w="7006590">
                  <a:moveTo>
                    <a:pt x="0" y="346583"/>
                  </a:moveTo>
                  <a:cubicBezTo>
                    <a:pt x="0" y="155194"/>
                    <a:pt x="155194" y="0"/>
                    <a:pt x="346710" y="0"/>
                  </a:cubicBezTo>
                  <a:lnTo>
                    <a:pt x="6659880" y="0"/>
                  </a:lnTo>
                  <a:lnTo>
                    <a:pt x="6659880" y="6350"/>
                  </a:lnTo>
                  <a:lnTo>
                    <a:pt x="6659880" y="0"/>
                  </a:lnTo>
                  <a:cubicBezTo>
                    <a:pt x="6851397" y="0"/>
                    <a:pt x="7006590" y="155194"/>
                    <a:pt x="7006590" y="346583"/>
                  </a:cubicBezTo>
                  <a:lnTo>
                    <a:pt x="7000240" y="346583"/>
                  </a:lnTo>
                  <a:lnTo>
                    <a:pt x="7006590" y="346583"/>
                  </a:lnTo>
                  <a:lnTo>
                    <a:pt x="7006590" y="5182108"/>
                  </a:lnTo>
                  <a:lnTo>
                    <a:pt x="7000240" y="5182108"/>
                  </a:lnTo>
                  <a:lnTo>
                    <a:pt x="7006590" y="5182108"/>
                  </a:lnTo>
                  <a:cubicBezTo>
                    <a:pt x="7006590" y="5373497"/>
                    <a:pt x="6851397" y="5528691"/>
                    <a:pt x="6659880" y="5528691"/>
                  </a:cubicBezTo>
                  <a:lnTo>
                    <a:pt x="6659880" y="5522341"/>
                  </a:lnTo>
                  <a:lnTo>
                    <a:pt x="6659880" y="5528691"/>
                  </a:lnTo>
                  <a:lnTo>
                    <a:pt x="346710" y="5528691"/>
                  </a:lnTo>
                  <a:lnTo>
                    <a:pt x="346710" y="5522341"/>
                  </a:lnTo>
                  <a:lnTo>
                    <a:pt x="346710" y="5528691"/>
                  </a:lnTo>
                  <a:cubicBezTo>
                    <a:pt x="155194" y="5528691"/>
                    <a:pt x="0" y="5373497"/>
                    <a:pt x="0" y="5182108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82108"/>
                  </a:lnTo>
                  <a:lnTo>
                    <a:pt x="6350" y="5182108"/>
                  </a:lnTo>
                  <a:lnTo>
                    <a:pt x="12700" y="5182108"/>
                  </a:lnTo>
                  <a:cubicBezTo>
                    <a:pt x="12700" y="5366512"/>
                    <a:pt x="162306" y="5515991"/>
                    <a:pt x="346710" y="5515991"/>
                  </a:cubicBezTo>
                  <a:lnTo>
                    <a:pt x="6659880" y="5515991"/>
                  </a:lnTo>
                  <a:cubicBezTo>
                    <a:pt x="6844412" y="5515991"/>
                    <a:pt x="6993890" y="5366512"/>
                    <a:pt x="6993890" y="5182108"/>
                  </a:cubicBezTo>
                  <a:lnTo>
                    <a:pt x="6993890" y="346583"/>
                  </a:lnTo>
                  <a:cubicBezTo>
                    <a:pt x="6993890" y="162179"/>
                    <a:pt x="6844411" y="12700"/>
                    <a:pt x="6659880" y="12700"/>
                  </a:cubicBezTo>
                  <a:lnTo>
                    <a:pt x="346710" y="12700"/>
                  </a:lnTo>
                  <a:lnTo>
                    <a:pt x="346710" y="6350"/>
                  </a:lnTo>
                  <a:lnTo>
                    <a:pt x="346710" y="12700"/>
                  </a:lnTo>
                  <a:cubicBezTo>
                    <a:pt x="162306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14245" y="4707582"/>
            <a:ext cx="850552" cy="850552"/>
            <a:chOff x="0" y="0"/>
            <a:chExt cx="1134070" cy="11340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7048202" y="4893618"/>
            <a:ext cx="382637" cy="478334"/>
            <a:chOff x="0" y="0"/>
            <a:chExt cx="510183" cy="637778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510159" cy="637794"/>
            </a:xfrm>
            <a:custGeom>
              <a:avLst/>
              <a:gdLst/>
              <a:ahLst/>
              <a:cxnLst/>
              <a:rect r="r" b="b" t="t" l="l"/>
              <a:pathLst>
                <a:path h="637794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637794"/>
                  </a:lnTo>
                  <a:lnTo>
                    <a:pt x="0" y="637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" t="0" r="-8" b="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814245" y="5832127"/>
            <a:ext cx="407848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Dynamic Optimization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14245" y="6349901"/>
            <a:ext cx="4659362" cy="146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Handles complex, time-varying inputs (solar irradiance, load changes).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45404" y="4409777"/>
            <a:ext cx="5254973" cy="4146500"/>
            <a:chOff x="0" y="0"/>
            <a:chExt cx="7006630" cy="55286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6993890" cy="5515991"/>
            </a:xfrm>
            <a:custGeom>
              <a:avLst/>
              <a:gdLst/>
              <a:ahLst/>
              <a:cxnLst/>
              <a:rect r="r" b="b" t="t" l="l"/>
              <a:pathLst>
                <a:path h="5515991" w="6993890">
                  <a:moveTo>
                    <a:pt x="0" y="340233"/>
                  </a:moveTo>
                  <a:cubicBezTo>
                    <a:pt x="0" y="152273"/>
                    <a:pt x="152400" y="0"/>
                    <a:pt x="340360" y="0"/>
                  </a:cubicBezTo>
                  <a:lnTo>
                    <a:pt x="6653530" y="0"/>
                  </a:lnTo>
                  <a:cubicBezTo>
                    <a:pt x="6841490" y="0"/>
                    <a:pt x="6993890" y="152273"/>
                    <a:pt x="6993890" y="340233"/>
                  </a:cubicBezTo>
                  <a:lnTo>
                    <a:pt x="6993890" y="5175758"/>
                  </a:lnTo>
                  <a:cubicBezTo>
                    <a:pt x="6993890" y="5363718"/>
                    <a:pt x="6841490" y="5515991"/>
                    <a:pt x="6653530" y="5515991"/>
                  </a:cubicBezTo>
                  <a:lnTo>
                    <a:pt x="340360" y="5515991"/>
                  </a:lnTo>
                  <a:cubicBezTo>
                    <a:pt x="152400" y="5515991"/>
                    <a:pt x="0" y="5363591"/>
                    <a:pt x="0" y="5175758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06590" cy="5528691"/>
            </a:xfrm>
            <a:custGeom>
              <a:avLst/>
              <a:gdLst/>
              <a:ahLst/>
              <a:cxnLst/>
              <a:rect r="r" b="b" t="t" l="l"/>
              <a:pathLst>
                <a:path h="5528691" w="7006590">
                  <a:moveTo>
                    <a:pt x="0" y="346583"/>
                  </a:moveTo>
                  <a:cubicBezTo>
                    <a:pt x="0" y="155194"/>
                    <a:pt x="155194" y="0"/>
                    <a:pt x="346710" y="0"/>
                  </a:cubicBezTo>
                  <a:lnTo>
                    <a:pt x="6659880" y="0"/>
                  </a:lnTo>
                  <a:lnTo>
                    <a:pt x="6659880" y="6350"/>
                  </a:lnTo>
                  <a:lnTo>
                    <a:pt x="6659880" y="0"/>
                  </a:lnTo>
                  <a:cubicBezTo>
                    <a:pt x="6851397" y="0"/>
                    <a:pt x="7006590" y="155194"/>
                    <a:pt x="7006590" y="346583"/>
                  </a:cubicBezTo>
                  <a:lnTo>
                    <a:pt x="7000240" y="346583"/>
                  </a:lnTo>
                  <a:lnTo>
                    <a:pt x="7006590" y="346583"/>
                  </a:lnTo>
                  <a:lnTo>
                    <a:pt x="7006590" y="5182108"/>
                  </a:lnTo>
                  <a:lnTo>
                    <a:pt x="7000240" y="5182108"/>
                  </a:lnTo>
                  <a:lnTo>
                    <a:pt x="7006590" y="5182108"/>
                  </a:lnTo>
                  <a:cubicBezTo>
                    <a:pt x="7006590" y="5373497"/>
                    <a:pt x="6851397" y="5528691"/>
                    <a:pt x="6659880" y="5528691"/>
                  </a:cubicBezTo>
                  <a:lnTo>
                    <a:pt x="6659880" y="5522341"/>
                  </a:lnTo>
                  <a:lnTo>
                    <a:pt x="6659880" y="5528691"/>
                  </a:lnTo>
                  <a:lnTo>
                    <a:pt x="346710" y="5528691"/>
                  </a:lnTo>
                  <a:lnTo>
                    <a:pt x="346710" y="5522341"/>
                  </a:lnTo>
                  <a:lnTo>
                    <a:pt x="346710" y="5528691"/>
                  </a:lnTo>
                  <a:cubicBezTo>
                    <a:pt x="155194" y="5528691"/>
                    <a:pt x="0" y="5373497"/>
                    <a:pt x="0" y="5182108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82108"/>
                  </a:lnTo>
                  <a:lnTo>
                    <a:pt x="6350" y="5182108"/>
                  </a:lnTo>
                  <a:lnTo>
                    <a:pt x="12700" y="5182108"/>
                  </a:lnTo>
                  <a:cubicBezTo>
                    <a:pt x="12700" y="5366512"/>
                    <a:pt x="162306" y="5515991"/>
                    <a:pt x="346710" y="5515991"/>
                  </a:cubicBezTo>
                  <a:lnTo>
                    <a:pt x="6659880" y="5515991"/>
                  </a:lnTo>
                  <a:cubicBezTo>
                    <a:pt x="6844412" y="5515991"/>
                    <a:pt x="6993890" y="5366512"/>
                    <a:pt x="6993890" y="5182108"/>
                  </a:cubicBezTo>
                  <a:lnTo>
                    <a:pt x="6993890" y="346583"/>
                  </a:lnTo>
                  <a:cubicBezTo>
                    <a:pt x="6993890" y="162179"/>
                    <a:pt x="6844411" y="12700"/>
                    <a:pt x="6659880" y="12700"/>
                  </a:cubicBezTo>
                  <a:lnTo>
                    <a:pt x="346710" y="12700"/>
                  </a:lnTo>
                  <a:lnTo>
                    <a:pt x="346710" y="6350"/>
                  </a:lnTo>
                  <a:lnTo>
                    <a:pt x="346710" y="12700"/>
                  </a:lnTo>
                  <a:cubicBezTo>
                    <a:pt x="162306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43210" y="4707582"/>
            <a:ext cx="850553" cy="850552"/>
            <a:chOff x="0" y="0"/>
            <a:chExt cx="1134070" cy="1134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12577167" y="4893618"/>
            <a:ext cx="382638" cy="478334"/>
            <a:chOff x="0" y="0"/>
            <a:chExt cx="510183" cy="637778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510159" cy="637794"/>
            </a:xfrm>
            <a:custGeom>
              <a:avLst/>
              <a:gdLst/>
              <a:ahLst/>
              <a:cxnLst/>
              <a:rect r="r" b="b" t="t" l="l"/>
              <a:pathLst>
                <a:path h="637794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637794"/>
                  </a:lnTo>
                  <a:lnTo>
                    <a:pt x="0" y="637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" t="0" r="-8" b="2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343210" y="5832127"/>
            <a:ext cx="465936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Autonomous Decision-Making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43210" y="6792814"/>
            <a:ext cx="4659362" cy="146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Enables real-time, intelligent control without constant human 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06946" y="614957"/>
            <a:ext cx="11820971" cy="739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Core Components of Your RL Simulation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92659" y="1801266"/>
            <a:ext cx="16702682" cy="1414165"/>
            <a:chOff x="0" y="0"/>
            <a:chExt cx="22270243" cy="18855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22232111" cy="1847596"/>
            </a:xfrm>
            <a:custGeom>
              <a:avLst/>
              <a:gdLst/>
              <a:ahLst/>
              <a:cxnLst/>
              <a:rect r="r" b="b" t="t" l="l"/>
              <a:pathLst>
                <a:path h="1847596" w="22232111">
                  <a:moveTo>
                    <a:pt x="0" y="276733"/>
                  </a:moveTo>
                  <a:cubicBezTo>
                    <a:pt x="0" y="123825"/>
                    <a:pt x="126238" y="0"/>
                    <a:pt x="281940" y="0"/>
                  </a:cubicBezTo>
                  <a:lnTo>
                    <a:pt x="21950172" y="0"/>
                  </a:lnTo>
                  <a:cubicBezTo>
                    <a:pt x="22105874" y="0"/>
                    <a:pt x="22232111" y="123825"/>
                    <a:pt x="22232111" y="276733"/>
                  </a:cubicBezTo>
                  <a:lnTo>
                    <a:pt x="22232111" y="1570863"/>
                  </a:lnTo>
                  <a:cubicBezTo>
                    <a:pt x="22232111" y="1723644"/>
                    <a:pt x="22105874" y="1847596"/>
                    <a:pt x="21950172" y="1847596"/>
                  </a:cubicBezTo>
                  <a:lnTo>
                    <a:pt x="281940" y="1847596"/>
                  </a:lnTo>
                  <a:cubicBezTo>
                    <a:pt x="126238" y="1847596"/>
                    <a:pt x="0" y="1723771"/>
                    <a:pt x="0" y="1570863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70211" cy="1885696"/>
            </a:xfrm>
            <a:custGeom>
              <a:avLst/>
              <a:gdLst/>
              <a:ahLst/>
              <a:cxnLst/>
              <a:rect r="r" b="b" t="t" l="l"/>
              <a:pathLst>
                <a:path h="1885696" w="22270211">
                  <a:moveTo>
                    <a:pt x="0" y="295783"/>
                  </a:moveTo>
                  <a:cubicBezTo>
                    <a:pt x="0" y="132080"/>
                    <a:pt x="135128" y="0"/>
                    <a:pt x="300990" y="0"/>
                  </a:cubicBezTo>
                  <a:lnTo>
                    <a:pt x="21969222" y="0"/>
                  </a:lnTo>
                  <a:lnTo>
                    <a:pt x="21969222" y="19050"/>
                  </a:lnTo>
                  <a:lnTo>
                    <a:pt x="21969222" y="0"/>
                  </a:lnTo>
                  <a:cubicBezTo>
                    <a:pt x="22135085" y="0"/>
                    <a:pt x="22270211" y="132080"/>
                    <a:pt x="22270211" y="295783"/>
                  </a:cubicBezTo>
                  <a:lnTo>
                    <a:pt x="22251161" y="295783"/>
                  </a:lnTo>
                  <a:lnTo>
                    <a:pt x="22270211" y="295783"/>
                  </a:lnTo>
                  <a:lnTo>
                    <a:pt x="22270211" y="1589913"/>
                  </a:lnTo>
                  <a:lnTo>
                    <a:pt x="22251161" y="1589913"/>
                  </a:lnTo>
                  <a:lnTo>
                    <a:pt x="22270211" y="1589913"/>
                  </a:lnTo>
                  <a:cubicBezTo>
                    <a:pt x="22270211" y="1753616"/>
                    <a:pt x="22135085" y="1885696"/>
                    <a:pt x="21969222" y="1885696"/>
                  </a:cubicBezTo>
                  <a:lnTo>
                    <a:pt x="21969222" y="1866646"/>
                  </a:lnTo>
                  <a:lnTo>
                    <a:pt x="21969222" y="1885696"/>
                  </a:lnTo>
                  <a:lnTo>
                    <a:pt x="300990" y="1885696"/>
                  </a:lnTo>
                  <a:lnTo>
                    <a:pt x="300990" y="1866646"/>
                  </a:lnTo>
                  <a:lnTo>
                    <a:pt x="300990" y="1885696"/>
                  </a:lnTo>
                  <a:cubicBezTo>
                    <a:pt x="135128" y="1885696"/>
                    <a:pt x="0" y="1753616"/>
                    <a:pt x="0" y="1589913"/>
                  </a:cubicBezTo>
                  <a:lnTo>
                    <a:pt x="0" y="295783"/>
                  </a:lnTo>
                  <a:lnTo>
                    <a:pt x="19050" y="295783"/>
                  </a:lnTo>
                  <a:lnTo>
                    <a:pt x="0" y="295783"/>
                  </a:lnTo>
                  <a:moveTo>
                    <a:pt x="38100" y="295783"/>
                  </a:moveTo>
                  <a:lnTo>
                    <a:pt x="38100" y="1589913"/>
                  </a:lnTo>
                  <a:lnTo>
                    <a:pt x="19050" y="1589913"/>
                  </a:lnTo>
                  <a:lnTo>
                    <a:pt x="38100" y="1589913"/>
                  </a:lnTo>
                  <a:cubicBezTo>
                    <a:pt x="38100" y="1731899"/>
                    <a:pt x="155448" y="1847596"/>
                    <a:pt x="300990" y="1847596"/>
                  </a:cubicBezTo>
                  <a:lnTo>
                    <a:pt x="21969222" y="1847596"/>
                  </a:lnTo>
                  <a:cubicBezTo>
                    <a:pt x="22114763" y="1847596"/>
                    <a:pt x="22232111" y="1731899"/>
                    <a:pt x="22232111" y="1589913"/>
                  </a:cubicBezTo>
                  <a:lnTo>
                    <a:pt x="22232111" y="295783"/>
                  </a:lnTo>
                  <a:cubicBezTo>
                    <a:pt x="22232111" y="153797"/>
                    <a:pt x="22114763" y="38100"/>
                    <a:pt x="21969222" y="38100"/>
                  </a:cubicBezTo>
                  <a:lnTo>
                    <a:pt x="300990" y="38100"/>
                  </a:lnTo>
                  <a:lnTo>
                    <a:pt x="300990" y="19050"/>
                  </a:lnTo>
                  <a:lnTo>
                    <a:pt x="300990" y="38100"/>
                  </a:lnTo>
                  <a:cubicBezTo>
                    <a:pt x="155448" y="38100"/>
                    <a:pt x="38100" y="153797"/>
                    <a:pt x="38100" y="2957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35521" y="1844129"/>
            <a:ext cx="922288" cy="1328440"/>
            <a:chOff x="0" y="0"/>
            <a:chExt cx="1229717" cy="17712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9741" cy="1771269"/>
            </a:xfrm>
            <a:custGeom>
              <a:avLst/>
              <a:gdLst/>
              <a:ahLst/>
              <a:cxnLst/>
              <a:rect r="r" b="b" t="t" l="l"/>
              <a:pathLst>
                <a:path h="1771269" w="1229741">
                  <a:moveTo>
                    <a:pt x="0" y="231013"/>
                  </a:moveTo>
                  <a:cubicBezTo>
                    <a:pt x="0" y="103378"/>
                    <a:pt x="103378" y="0"/>
                    <a:pt x="231013" y="0"/>
                  </a:cubicBezTo>
                  <a:lnTo>
                    <a:pt x="998728" y="0"/>
                  </a:lnTo>
                  <a:cubicBezTo>
                    <a:pt x="1126363" y="0"/>
                    <a:pt x="1229741" y="103378"/>
                    <a:pt x="1229741" y="231013"/>
                  </a:cubicBezTo>
                  <a:lnTo>
                    <a:pt x="1229741" y="1540256"/>
                  </a:lnTo>
                  <a:cubicBezTo>
                    <a:pt x="1229741" y="1667764"/>
                    <a:pt x="1126363" y="1771269"/>
                    <a:pt x="998728" y="1771269"/>
                  </a:cubicBezTo>
                  <a:lnTo>
                    <a:pt x="231013" y="1771269"/>
                  </a:lnTo>
                  <a:cubicBezTo>
                    <a:pt x="103378" y="1771269"/>
                    <a:pt x="0" y="1667891"/>
                    <a:pt x="0" y="1540256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9039" y="2339876"/>
            <a:ext cx="345727" cy="38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8344" y="2065139"/>
            <a:ext cx="2882205" cy="36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The Environment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8344" y="2487514"/>
            <a:ext cx="15464135" cy="454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Your microgrid model: renewable generation (solar), energy storage (batteries), and consumer demand profiles.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92659" y="3417391"/>
            <a:ext cx="16702682" cy="1414165"/>
            <a:chOff x="0" y="0"/>
            <a:chExt cx="22270243" cy="18855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22232111" cy="1847596"/>
            </a:xfrm>
            <a:custGeom>
              <a:avLst/>
              <a:gdLst/>
              <a:ahLst/>
              <a:cxnLst/>
              <a:rect r="r" b="b" t="t" l="l"/>
              <a:pathLst>
                <a:path h="1847596" w="22232111">
                  <a:moveTo>
                    <a:pt x="0" y="276733"/>
                  </a:moveTo>
                  <a:cubicBezTo>
                    <a:pt x="0" y="123825"/>
                    <a:pt x="126238" y="0"/>
                    <a:pt x="281940" y="0"/>
                  </a:cubicBezTo>
                  <a:lnTo>
                    <a:pt x="21950172" y="0"/>
                  </a:lnTo>
                  <a:cubicBezTo>
                    <a:pt x="22105874" y="0"/>
                    <a:pt x="22232111" y="123825"/>
                    <a:pt x="22232111" y="276733"/>
                  </a:cubicBezTo>
                  <a:lnTo>
                    <a:pt x="22232111" y="1570863"/>
                  </a:lnTo>
                  <a:cubicBezTo>
                    <a:pt x="22232111" y="1723644"/>
                    <a:pt x="22105874" y="1847596"/>
                    <a:pt x="21950172" y="1847596"/>
                  </a:cubicBezTo>
                  <a:lnTo>
                    <a:pt x="281940" y="1847596"/>
                  </a:lnTo>
                  <a:cubicBezTo>
                    <a:pt x="126238" y="1847596"/>
                    <a:pt x="0" y="1723771"/>
                    <a:pt x="0" y="1570863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70211" cy="1885696"/>
            </a:xfrm>
            <a:custGeom>
              <a:avLst/>
              <a:gdLst/>
              <a:ahLst/>
              <a:cxnLst/>
              <a:rect r="r" b="b" t="t" l="l"/>
              <a:pathLst>
                <a:path h="1885696" w="22270211">
                  <a:moveTo>
                    <a:pt x="0" y="295783"/>
                  </a:moveTo>
                  <a:cubicBezTo>
                    <a:pt x="0" y="132080"/>
                    <a:pt x="135128" y="0"/>
                    <a:pt x="300990" y="0"/>
                  </a:cubicBezTo>
                  <a:lnTo>
                    <a:pt x="21969222" y="0"/>
                  </a:lnTo>
                  <a:lnTo>
                    <a:pt x="21969222" y="19050"/>
                  </a:lnTo>
                  <a:lnTo>
                    <a:pt x="21969222" y="0"/>
                  </a:lnTo>
                  <a:cubicBezTo>
                    <a:pt x="22135085" y="0"/>
                    <a:pt x="22270211" y="132080"/>
                    <a:pt x="22270211" y="295783"/>
                  </a:cubicBezTo>
                  <a:lnTo>
                    <a:pt x="22251161" y="295783"/>
                  </a:lnTo>
                  <a:lnTo>
                    <a:pt x="22270211" y="295783"/>
                  </a:lnTo>
                  <a:lnTo>
                    <a:pt x="22270211" y="1589913"/>
                  </a:lnTo>
                  <a:lnTo>
                    <a:pt x="22251161" y="1589913"/>
                  </a:lnTo>
                  <a:lnTo>
                    <a:pt x="22270211" y="1589913"/>
                  </a:lnTo>
                  <a:cubicBezTo>
                    <a:pt x="22270211" y="1753616"/>
                    <a:pt x="22135085" y="1885696"/>
                    <a:pt x="21969222" y="1885696"/>
                  </a:cubicBezTo>
                  <a:lnTo>
                    <a:pt x="21969222" y="1866646"/>
                  </a:lnTo>
                  <a:lnTo>
                    <a:pt x="21969222" y="1885696"/>
                  </a:lnTo>
                  <a:lnTo>
                    <a:pt x="300990" y="1885696"/>
                  </a:lnTo>
                  <a:lnTo>
                    <a:pt x="300990" y="1866646"/>
                  </a:lnTo>
                  <a:lnTo>
                    <a:pt x="300990" y="1885696"/>
                  </a:lnTo>
                  <a:cubicBezTo>
                    <a:pt x="135128" y="1885696"/>
                    <a:pt x="0" y="1753616"/>
                    <a:pt x="0" y="1589913"/>
                  </a:cubicBezTo>
                  <a:lnTo>
                    <a:pt x="0" y="295783"/>
                  </a:lnTo>
                  <a:lnTo>
                    <a:pt x="19050" y="295783"/>
                  </a:lnTo>
                  <a:lnTo>
                    <a:pt x="0" y="295783"/>
                  </a:lnTo>
                  <a:moveTo>
                    <a:pt x="38100" y="295783"/>
                  </a:moveTo>
                  <a:lnTo>
                    <a:pt x="38100" y="1589913"/>
                  </a:lnTo>
                  <a:lnTo>
                    <a:pt x="19050" y="1589913"/>
                  </a:lnTo>
                  <a:lnTo>
                    <a:pt x="38100" y="1589913"/>
                  </a:lnTo>
                  <a:cubicBezTo>
                    <a:pt x="38100" y="1731899"/>
                    <a:pt x="155448" y="1847596"/>
                    <a:pt x="300990" y="1847596"/>
                  </a:cubicBezTo>
                  <a:lnTo>
                    <a:pt x="21969222" y="1847596"/>
                  </a:lnTo>
                  <a:cubicBezTo>
                    <a:pt x="22114763" y="1847596"/>
                    <a:pt x="22232111" y="1731899"/>
                    <a:pt x="22232111" y="1589913"/>
                  </a:cubicBezTo>
                  <a:lnTo>
                    <a:pt x="22232111" y="295783"/>
                  </a:lnTo>
                  <a:cubicBezTo>
                    <a:pt x="22232111" y="153797"/>
                    <a:pt x="22114763" y="38100"/>
                    <a:pt x="21969222" y="38100"/>
                  </a:cubicBezTo>
                  <a:lnTo>
                    <a:pt x="300990" y="38100"/>
                  </a:lnTo>
                  <a:lnTo>
                    <a:pt x="300990" y="19050"/>
                  </a:lnTo>
                  <a:lnTo>
                    <a:pt x="300990" y="38100"/>
                  </a:lnTo>
                  <a:cubicBezTo>
                    <a:pt x="155448" y="38100"/>
                    <a:pt x="38100" y="153797"/>
                    <a:pt x="38100" y="2957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35521" y="3460254"/>
            <a:ext cx="922288" cy="1328440"/>
            <a:chOff x="0" y="0"/>
            <a:chExt cx="1229717" cy="17712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9741" cy="1771269"/>
            </a:xfrm>
            <a:custGeom>
              <a:avLst/>
              <a:gdLst/>
              <a:ahLst/>
              <a:cxnLst/>
              <a:rect r="r" b="b" t="t" l="l"/>
              <a:pathLst>
                <a:path h="1771269" w="1229741">
                  <a:moveTo>
                    <a:pt x="0" y="231013"/>
                  </a:moveTo>
                  <a:cubicBezTo>
                    <a:pt x="0" y="103378"/>
                    <a:pt x="103378" y="0"/>
                    <a:pt x="231013" y="0"/>
                  </a:cubicBezTo>
                  <a:lnTo>
                    <a:pt x="998728" y="0"/>
                  </a:lnTo>
                  <a:cubicBezTo>
                    <a:pt x="1126363" y="0"/>
                    <a:pt x="1229741" y="103378"/>
                    <a:pt x="1229741" y="231013"/>
                  </a:cubicBezTo>
                  <a:lnTo>
                    <a:pt x="1229741" y="1540256"/>
                  </a:lnTo>
                  <a:cubicBezTo>
                    <a:pt x="1229741" y="1667764"/>
                    <a:pt x="1126363" y="1771269"/>
                    <a:pt x="998728" y="1771269"/>
                  </a:cubicBezTo>
                  <a:lnTo>
                    <a:pt x="231013" y="1771269"/>
                  </a:lnTo>
                  <a:cubicBezTo>
                    <a:pt x="103378" y="1771269"/>
                    <a:pt x="0" y="1667891"/>
                    <a:pt x="0" y="1540256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19039" y="3956000"/>
            <a:ext cx="345727" cy="38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88344" y="3681264"/>
            <a:ext cx="2882205" cy="36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The Agent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88344" y="4103637"/>
            <a:ext cx="15464135" cy="454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The RL algorithm (e.g., Q-learning, DQN, PPO) responsible for making decisions.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92659" y="5033516"/>
            <a:ext cx="16702682" cy="1414165"/>
            <a:chOff x="0" y="0"/>
            <a:chExt cx="22270243" cy="18855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22232111" cy="1847596"/>
            </a:xfrm>
            <a:custGeom>
              <a:avLst/>
              <a:gdLst/>
              <a:ahLst/>
              <a:cxnLst/>
              <a:rect r="r" b="b" t="t" l="l"/>
              <a:pathLst>
                <a:path h="1847596" w="22232111">
                  <a:moveTo>
                    <a:pt x="0" y="276733"/>
                  </a:moveTo>
                  <a:cubicBezTo>
                    <a:pt x="0" y="123825"/>
                    <a:pt x="126238" y="0"/>
                    <a:pt x="281940" y="0"/>
                  </a:cubicBezTo>
                  <a:lnTo>
                    <a:pt x="21950172" y="0"/>
                  </a:lnTo>
                  <a:cubicBezTo>
                    <a:pt x="22105874" y="0"/>
                    <a:pt x="22232111" y="123825"/>
                    <a:pt x="22232111" y="276733"/>
                  </a:cubicBezTo>
                  <a:lnTo>
                    <a:pt x="22232111" y="1570863"/>
                  </a:lnTo>
                  <a:cubicBezTo>
                    <a:pt x="22232111" y="1723644"/>
                    <a:pt x="22105874" y="1847596"/>
                    <a:pt x="21950172" y="1847596"/>
                  </a:cubicBezTo>
                  <a:lnTo>
                    <a:pt x="281940" y="1847596"/>
                  </a:lnTo>
                  <a:cubicBezTo>
                    <a:pt x="126238" y="1847596"/>
                    <a:pt x="0" y="1723771"/>
                    <a:pt x="0" y="1570863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270211" cy="1885696"/>
            </a:xfrm>
            <a:custGeom>
              <a:avLst/>
              <a:gdLst/>
              <a:ahLst/>
              <a:cxnLst/>
              <a:rect r="r" b="b" t="t" l="l"/>
              <a:pathLst>
                <a:path h="1885696" w="22270211">
                  <a:moveTo>
                    <a:pt x="0" y="295783"/>
                  </a:moveTo>
                  <a:cubicBezTo>
                    <a:pt x="0" y="132080"/>
                    <a:pt x="135128" y="0"/>
                    <a:pt x="300990" y="0"/>
                  </a:cubicBezTo>
                  <a:lnTo>
                    <a:pt x="21969222" y="0"/>
                  </a:lnTo>
                  <a:lnTo>
                    <a:pt x="21969222" y="19050"/>
                  </a:lnTo>
                  <a:lnTo>
                    <a:pt x="21969222" y="0"/>
                  </a:lnTo>
                  <a:cubicBezTo>
                    <a:pt x="22135085" y="0"/>
                    <a:pt x="22270211" y="132080"/>
                    <a:pt x="22270211" y="295783"/>
                  </a:cubicBezTo>
                  <a:lnTo>
                    <a:pt x="22251161" y="295783"/>
                  </a:lnTo>
                  <a:lnTo>
                    <a:pt x="22270211" y="295783"/>
                  </a:lnTo>
                  <a:lnTo>
                    <a:pt x="22270211" y="1589913"/>
                  </a:lnTo>
                  <a:lnTo>
                    <a:pt x="22251161" y="1589913"/>
                  </a:lnTo>
                  <a:lnTo>
                    <a:pt x="22270211" y="1589913"/>
                  </a:lnTo>
                  <a:cubicBezTo>
                    <a:pt x="22270211" y="1753616"/>
                    <a:pt x="22135085" y="1885696"/>
                    <a:pt x="21969222" y="1885696"/>
                  </a:cubicBezTo>
                  <a:lnTo>
                    <a:pt x="21969222" y="1866646"/>
                  </a:lnTo>
                  <a:lnTo>
                    <a:pt x="21969222" y="1885696"/>
                  </a:lnTo>
                  <a:lnTo>
                    <a:pt x="300990" y="1885696"/>
                  </a:lnTo>
                  <a:lnTo>
                    <a:pt x="300990" y="1866646"/>
                  </a:lnTo>
                  <a:lnTo>
                    <a:pt x="300990" y="1885696"/>
                  </a:lnTo>
                  <a:cubicBezTo>
                    <a:pt x="135128" y="1885696"/>
                    <a:pt x="0" y="1753616"/>
                    <a:pt x="0" y="1589913"/>
                  </a:cubicBezTo>
                  <a:lnTo>
                    <a:pt x="0" y="295783"/>
                  </a:lnTo>
                  <a:lnTo>
                    <a:pt x="19050" y="295783"/>
                  </a:lnTo>
                  <a:lnTo>
                    <a:pt x="0" y="295783"/>
                  </a:lnTo>
                  <a:moveTo>
                    <a:pt x="38100" y="295783"/>
                  </a:moveTo>
                  <a:lnTo>
                    <a:pt x="38100" y="1589913"/>
                  </a:lnTo>
                  <a:lnTo>
                    <a:pt x="19050" y="1589913"/>
                  </a:lnTo>
                  <a:lnTo>
                    <a:pt x="38100" y="1589913"/>
                  </a:lnTo>
                  <a:cubicBezTo>
                    <a:pt x="38100" y="1731899"/>
                    <a:pt x="155448" y="1847596"/>
                    <a:pt x="300990" y="1847596"/>
                  </a:cubicBezTo>
                  <a:lnTo>
                    <a:pt x="21969222" y="1847596"/>
                  </a:lnTo>
                  <a:cubicBezTo>
                    <a:pt x="22114763" y="1847596"/>
                    <a:pt x="22232111" y="1731899"/>
                    <a:pt x="22232111" y="1589913"/>
                  </a:cubicBezTo>
                  <a:lnTo>
                    <a:pt x="22232111" y="295783"/>
                  </a:lnTo>
                  <a:cubicBezTo>
                    <a:pt x="22232111" y="153797"/>
                    <a:pt x="22114763" y="38100"/>
                    <a:pt x="21969222" y="38100"/>
                  </a:cubicBezTo>
                  <a:lnTo>
                    <a:pt x="300990" y="38100"/>
                  </a:lnTo>
                  <a:lnTo>
                    <a:pt x="300990" y="19050"/>
                  </a:lnTo>
                  <a:lnTo>
                    <a:pt x="300990" y="38100"/>
                  </a:lnTo>
                  <a:cubicBezTo>
                    <a:pt x="155448" y="38100"/>
                    <a:pt x="38100" y="153797"/>
                    <a:pt x="38100" y="2957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35521" y="5076379"/>
            <a:ext cx="922288" cy="1328440"/>
            <a:chOff x="0" y="0"/>
            <a:chExt cx="1229717" cy="17712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29741" cy="1771269"/>
            </a:xfrm>
            <a:custGeom>
              <a:avLst/>
              <a:gdLst/>
              <a:ahLst/>
              <a:cxnLst/>
              <a:rect r="r" b="b" t="t" l="l"/>
              <a:pathLst>
                <a:path h="1771269" w="1229741">
                  <a:moveTo>
                    <a:pt x="0" y="231013"/>
                  </a:moveTo>
                  <a:cubicBezTo>
                    <a:pt x="0" y="103378"/>
                    <a:pt x="103378" y="0"/>
                    <a:pt x="231013" y="0"/>
                  </a:cubicBezTo>
                  <a:lnTo>
                    <a:pt x="998728" y="0"/>
                  </a:lnTo>
                  <a:cubicBezTo>
                    <a:pt x="1126363" y="0"/>
                    <a:pt x="1229741" y="103378"/>
                    <a:pt x="1229741" y="231013"/>
                  </a:cubicBezTo>
                  <a:lnTo>
                    <a:pt x="1229741" y="1540256"/>
                  </a:lnTo>
                  <a:cubicBezTo>
                    <a:pt x="1229741" y="1667764"/>
                    <a:pt x="1126363" y="1771269"/>
                    <a:pt x="998728" y="1771269"/>
                  </a:cubicBezTo>
                  <a:lnTo>
                    <a:pt x="231013" y="1771269"/>
                  </a:lnTo>
                  <a:cubicBezTo>
                    <a:pt x="103378" y="1771269"/>
                    <a:pt x="0" y="1667891"/>
                    <a:pt x="0" y="1540256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19039" y="5572125"/>
            <a:ext cx="345727" cy="38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88344" y="5297389"/>
            <a:ext cx="2882205" cy="36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States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88344" y="5719762"/>
            <a:ext cx="15464135" cy="454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Current conditions: battery charge, time of day, solar output, grid price, demand.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92659" y="6649641"/>
            <a:ext cx="16702682" cy="1414165"/>
            <a:chOff x="0" y="0"/>
            <a:chExt cx="22270243" cy="188555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9050" y="19050"/>
              <a:ext cx="22232111" cy="1847596"/>
            </a:xfrm>
            <a:custGeom>
              <a:avLst/>
              <a:gdLst/>
              <a:ahLst/>
              <a:cxnLst/>
              <a:rect r="r" b="b" t="t" l="l"/>
              <a:pathLst>
                <a:path h="1847596" w="22232111">
                  <a:moveTo>
                    <a:pt x="0" y="276733"/>
                  </a:moveTo>
                  <a:cubicBezTo>
                    <a:pt x="0" y="123825"/>
                    <a:pt x="126238" y="0"/>
                    <a:pt x="281940" y="0"/>
                  </a:cubicBezTo>
                  <a:lnTo>
                    <a:pt x="21950172" y="0"/>
                  </a:lnTo>
                  <a:cubicBezTo>
                    <a:pt x="22105874" y="0"/>
                    <a:pt x="22232111" y="123825"/>
                    <a:pt x="22232111" y="276733"/>
                  </a:cubicBezTo>
                  <a:lnTo>
                    <a:pt x="22232111" y="1570863"/>
                  </a:lnTo>
                  <a:cubicBezTo>
                    <a:pt x="22232111" y="1723644"/>
                    <a:pt x="22105874" y="1847596"/>
                    <a:pt x="21950172" y="1847596"/>
                  </a:cubicBezTo>
                  <a:lnTo>
                    <a:pt x="281940" y="1847596"/>
                  </a:lnTo>
                  <a:cubicBezTo>
                    <a:pt x="126238" y="1847596"/>
                    <a:pt x="0" y="1723771"/>
                    <a:pt x="0" y="1570863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270211" cy="1885696"/>
            </a:xfrm>
            <a:custGeom>
              <a:avLst/>
              <a:gdLst/>
              <a:ahLst/>
              <a:cxnLst/>
              <a:rect r="r" b="b" t="t" l="l"/>
              <a:pathLst>
                <a:path h="1885696" w="22270211">
                  <a:moveTo>
                    <a:pt x="0" y="295783"/>
                  </a:moveTo>
                  <a:cubicBezTo>
                    <a:pt x="0" y="132080"/>
                    <a:pt x="135128" y="0"/>
                    <a:pt x="300990" y="0"/>
                  </a:cubicBezTo>
                  <a:lnTo>
                    <a:pt x="21969222" y="0"/>
                  </a:lnTo>
                  <a:lnTo>
                    <a:pt x="21969222" y="19050"/>
                  </a:lnTo>
                  <a:lnTo>
                    <a:pt x="21969222" y="0"/>
                  </a:lnTo>
                  <a:cubicBezTo>
                    <a:pt x="22135085" y="0"/>
                    <a:pt x="22270211" y="132080"/>
                    <a:pt x="22270211" y="295783"/>
                  </a:cubicBezTo>
                  <a:lnTo>
                    <a:pt x="22251161" y="295783"/>
                  </a:lnTo>
                  <a:lnTo>
                    <a:pt x="22270211" y="295783"/>
                  </a:lnTo>
                  <a:lnTo>
                    <a:pt x="22270211" y="1589913"/>
                  </a:lnTo>
                  <a:lnTo>
                    <a:pt x="22251161" y="1589913"/>
                  </a:lnTo>
                  <a:lnTo>
                    <a:pt x="22270211" y="1589913"/>
                  </a:lnTo>
                  <a:cubicBezTo>
                    <a:pt x="22270211" y="1753616"/>
                    <a:pt x="22135085" y="1885696"/>
                    <a:pt x="21969222" y="1885696"/>
                  </a:cubicBezTo>
                  <a:lnTo>
                    <a:pt x="21969222" y="1866646"/>
                  </a:lnTo>
                  <a:lnTo>
                    <a:pt x="21969222" y="1885696"/>
                  </a:lnTo>
                  <a:lnTo>
                    <a:pt x="300990" y="1885696"/>
                  </a:lnTo>
                  <a:lnTo>
                    <a:pt x="300990" y="1866646"/>
                  </a:lnTo>
                  <a:lnTo>
                    <a:pt x="300990" y="1885696"/>
                  </a:lnTo>
                  <a:cubicBezTo>
                    <a:pt x="135128" y="1885696"/>
                    <a:pt x="0" y="1753616"/>
                    <a:pt x="0" y="1589913"/>
                  </a:cubicBezTo>
                  <a:lnTo>
                    <a:pt x="0" y="295783"/>
                  </a:lnTo>
                  <a:lnTo>
                    <a:pt x="19050" y="295783"/>
                  </a:lnTo>
                  <a:lnTo>
                    <a:pt x="0" y="295783"/>
                  </a:lnTo>
                  <a:moveTo>
                    <a:pt x="38100" y="295783"/>
                  </a:moveTo>
                  <a:lnTo>
                    <a:pt x="38100" y="1589913"/>
                  </a:lnTo>
                  <a:lnTo>
                    <a:pt x="19050" y="1589913"/>
                  </a:lnTo>
                  <a:lnTo>
                    <a:pt x="38100" y="1589913"/>
                  </a:lnTo>
                  <a:cubicBezTo>
                    <a:pt x="38100" y="1731899"/>
                    <a:pt x="155448" y="1847596"/>
                    <a:pt x="300990" y="1847596"/>
                  </a:cubicBezTo>
                  <a:lnTo>
                    <a:pt x="21969222" y="1847596"/>
                  </a:lnTo>
                  <a:cubicBezTo>
                    <a:pt x="22114763" y="1847596"/>
                    <a:pt x="22232111" y="1731899"/>
                    <a:pt x="22232111" y="1589913"/>
                  </a:cubicBezTo>
                  <a:lnTo>
                    <a:pt x="22232111" y="295783"/>
                  </a:lnTo>
                  <a:cubicBezTo>
                    <a:pt x="22232111" y="153797"/>
                    <a:pt x="22114763" y="38100"/>
                    <a:pt x="21969222" y="38100"/>
                  </a:cubicBezTo>
                  <a:lnTo>
                    <a:pt x="300990" y="38100"/>
                  </a:lnTo>
                  <a:lnTo>
                    <a:pt x="300990" y="19050"/>
                  </a:lnTo>
                  <a:lnTo>
                    <a:pt x="300990" y="38100"/>
                  </a:lnTo>
                  <a:cubicBezTo>
                    <a:pt x="155448" y="38100"/>
                    <a:pt x="38100" y="153797"/>
                    <a:pt x="38100" y="2957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35521" y="6692502"/>
            <a:ext cx="922288" cy="1328440"/>
            <a:chOff x="0" y="0"/>
            <a:chExt cx="1229717" cy="177125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29741" cy="1771269"/>
            </a:xfrm>
            <a:custGeom>
              <a:avLst/>
              <a:gdLst/>
              <a:ahLst/>
              <a:cxnLst/>
              <a:rect r="r" b="b" t="t" l="l"/>
              <a:pathLst>
                <a:path h="1771269" w="1229741">
                  <a:moveTo>
                    <a:pt x="0" y="231013"/>
                  </a:moveTo>
                  <a:cubicBezTo>
                    <a:pt x="0" y="103378"/>
                    <a:pt x="103378" y="0"/>
                    <a:pt x="231013" y="0"/>
                  </a:cubicBezTo>
                  <a:lnTo>
                    <a:pt x="998728" y="0"/>
                  </a:lnTo>
                  <a:cubicBezTo>
                    <a:pt x="1126363" y="0"/>
                    <a:pt x="1229741" y="103378"/>
                    <a:pt x="1229741" y="231013"/>
                  </a:cubicBezTo>
                  <a:lnTo>
                    <a:pt x="1229741" y="1540256"/>
                  </a:lnTo>
                  <a:cubicBezTo>
                    <a:pt x="1229741" y="1667764"/>
                    <a:pt x="1126363" y="1771269"/>
                    <a:pt x="998728" y="1771269"/>
                  </a:cubicBezTo>
                  <a:lnTo>
                    <a:pt x="231013" y="1771269"/>
                  </a:lnTo>
                  <a:cubicBezTo>
                    <a:pt x="103378" y="1771269"/>
                    <a:pt x="0" y="1667891"/>
                    <a:pt x="0" y="1540256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19039" y="7188250"/>
            <a:ext cx="345727" cy="38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88344" y="6913512"/>
            <a:ext cx="2882205" cy="36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Actions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88344" y="7335887"/>
            <a:ext cx="15464135" cy="454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Decisions: charge/discharge battery, buy/sell from grid, shift load.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92659" y="8265765"/>
            <a:ext cx="16702682" cy="1414165"/>
            <a:chOff x="0" y="0"/>
            <a:chExt cx="22270243" cy="188555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9050" y="19050"/>
              <a:ext cx="22232111" cy="1847596"/>
            </a:xfrm>
            <a:custGeom>
              <a:avLst/>
              <a:gdLst/>
              <a:ahLst/>
              <a:cxnLst/>
              <a:rect r="r" b="b" t="t" l="l"/>
              <a:pathLst>
                <a:path h="1847596" w="22232111">
                  <a:moveTo>
                    <a:pt x="0" y="276733"/>
                  </a:moveTo>
                  <a:cubicBezTo>
                    <a:pt x="0" y="123825"/>
                    <a:pt x="126238" y="0"/>
                    <a:pt x="281940" y="0"/>
                  </a:cubicBezTo>
                  <a:lnTo>
                    <a:pt x="21950172" y="0"/>
                  </a:lnTo>
                  <a:cubicBezTo>
                    <a:pt x="22105874" y="0"/>
                    <a:pt x="22232111" y="123825"/>
                    <a:pt x="22232111" y="276733"/>
                  </a:cubicBezTo>
                  <a:lnTo>
                    <a:pt x="22232111" y="1570863"/>
                  </a:lnTo>
                  <a:cubicBezTo>
                    <a:pt x="22232111" y="1723644"/>
                    <a:pt x="22105874" y="1847596"/>
                    <a:pt x="21950172" y="1847596"/>
                  </a:cubicBezTo>
                  <a:lnTo>
                    <a:pt x="281940" y="1847596"/>
                  </a:lnTo>
                  <a:cubicBezTo>
                    <a:pt x="126238" y="1847596"/>
                    <a:pt x="0" y="1723771"/>
                    <a:pt x="0" y="1570863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270211" cy="1885696"/>
            </a:xfrm>
            <a:custGeom>
              <a:avLst/>
              <a:gdLst/>
              <a:ahLst/>
              <a:cxnLst/>
              <a:rect r="r" b="b" t="t" l="l"/>
              <a:pathLst>
                <a:path h="1885696" w="22270211">
                  <a:moveTo>
                    <a:pt x="0" y="295783"/>
                  </a:moveTo>
                  <a:cubicBezTo>
                    <a:pt x="0" y="132080"/>
                    <a:pt x="135128" y="0"/>
                    <a:pt x="300990" y="0"/>
                  </a:cubicBezTo>
                  <a:lnTo>
                    <a:pt x="21969222" y="0"/>
                  </a:lnTo>
                  <a:lnTo>
                    <a:pt x="21969222" y="19050"/>
                  </a:lnTo>
                  <a:lnTo>
                    <a:pt x="21969222" y="0"/>
                  </a:lnTo>
                  <a:cubicBezTo>
                    <a:pt x="22135085" y="0"/>
                    <a:pt x="22270211" y="132080"/>
                    <a:pt x="22270211" y="295783"/>
                  </a:cubicBezTo>
                  <a:lnTo>
                    <a:pt x="22251161" y="295783"/>
                  </a:lnTo>
                  <a:lnTo>
                    <a:pt x="22270211" y="295783"/>
                  </a:lnTo>
                  <a:lnTo>
                    <a:pt x="22270211" y="1589913"/>
                  </a:lnTo>
                  <a:lnTo>
                    <a:pt x="22251161" y="1589913"/>
                  </a:lnTo>
                  <a:lnTo>
                    <a:pt x="22270211" y="1589913"/>
                  </a:lnTo>
                  <a:cubicBezTo>
                    <a:pt x="22270211" y="1753616"/>
                    <a:pt x="22135085" y="1885696"/>
                    <a:pt x="21969222" y="1885696"/>
                  </a:cubicBezTo>
                  <a:lnTo>
                    <a:pt x="21969222" y="1866646"/>
                  </a:lnTo>
                  <a:lnTo>
                    <a:pt x="21969222" y="1885696"/>
                  </a:lnTo>
                  <a:lnTo>
                    <a:pt x="300990" y="1885696"/>
                  </a:lnTo>
                  <a:lnTo>
                    <a:pt x="300990" y="1866646"/>
                  </a:lnTo>
                  <a:lnTo>
                    <a:pt x="300990" y="1885696"/>
                  </a:lnTo>
                  <a:cubicBezTo>
                    <a:pt x="135128" y="1885696"/>
                    <a:pt x="0" y="1753616"/>
                    <a:pt x="0" y="1589913"/>
                  </a:cubicBezTo>
                  <a:lnTo>
                    <a:pt x="0" y="295783"/>
                  </a:lnTo>
                  <a:lnTo>
                    <a:pt x="19050" y="295783"/>
                  </a:lnTo>
                  <a:lnTo>
                    <a:pt x="0" y="295783"/>
                  </a:lnTo>
                  <a:moveTo>
                    <a:pt x="38100" y="295783"/>
                  </a:moveTo>
                  <a:lnTo>
                    <a:pt x="38100" y="1589913"/>
                  </a:lnTo>
                  <a:lnTo>
                    <a:pt x="19050" y="1589913"/>
                  </a:lnTo>
                  <a:lnTo>
                    <a:pt x="38100" y="1589913"/>
                  </a:lnTo>
                  <a:cubicBezTo>
                    <a:pt x="38100" y="1731899"/>
                    <a:pt x="155448" y="1847596"/>
                    <a:pt x="300990" y="1847596"/>
                  </a:cubicBezTo>
                  <a:lnTo>
                    <a:pt x="21969222" y="1847596"/>
                  </a:lnTo>
                  <a:cubicBezTo>
                    <a:pt x="22114763" y="1847596"/>
                    <a:pt x="22232111" y="1731899"/>
                    <a:pt x="22232111" y="1589913"/>
                  </a:cubicBezTo>
                  <a:lnTo>
                    <a:pt x="22232111" y="295783"/>
                  </a:lnTo>
                  <a:cubicBezTo>
                    <a:pt x="22232111" y="153797"/>
                    <a:pt x="22114763" y="38100"/>
                    <a:pt x="21969222" y="38100"/>
                  </a:cubicBezTo>
                  <a:lnTo>
                    <a:pt x="300990" y="38100"/>
                  </a:lnTo>
                  <a:lnTo>
                    <a:pt x="300990" y="19050"/>
                  </a:lnTo>
                  <a:lnTo>
                    <a:pt x="300990" y="38100"/>
                  </a:lnTo>
                  <a:cubicBezTo>
                    <a:pt x="155448" y="38100"/>
                    <a:pt x="38100" y="153797"/>
                    <a:pt x="38100" y="2957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35521" y="8308627"/>
            <a:ext cx="922288" cy="1328440"/>
            <a:chOff x="0" y="0"/>
            <a:chExt cx="1229717" cy="177125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29741" cy="1771269"/>
            </a:xfrm>
            <a:custGeom>
              <a:avLst/>
              <a:gdLst/>
              <a:ahLst/>
              <a:cxnLst/>
              <a:rect r="r" b="b" t="t" l="l"/>
              <a:pathLst>
                <a:path h="1771269" w="1229741">
                  <a:moveTo>
                    <a:pt x="0" y="231013"/>
                  </a:moveTo>
                  <a:cubicBezTo>
                    <a:pt x="0" y="103378"/>
                    <a:pt x="103378" y="0"/>
                    <a:pt x="231013" y="0"/>
                  </a:cubicBezTo>
                  <a:lnTo>
                    <a:pt x="998728" y="0"/>
                  </a:lnTo>
                  <a:cubicBezTo>
                    <a:pt x="1126363" y="0"/>
                    <a:pt x="1229741" y="103378"/>
                    <a:pt x="1229741" y="231013"/>
                  </a:cubicBezTo>
                  <a:lnTo>
                    <a:pt x="1229741" y="1540256"/>
                  </a:lnTo>
                  <a:cubicBezTo>
                    <a:pt x="1229741" y="1667764"/>
                    <a:pt x="1126363" y="1771269"/>
                    <a:pt x="998728" y="1771269"/>
                  </a:cubicBezTo>
                  <a:lnTo>
                    <a:pt x="231013" y="1771269"/>
                  </a:lnTo>
                  <a:cubicBezTo>
                    <a:pt x="103378" y="1771269"/>
                    <a:pt x="0" y="1667891"/>
                    <a:pt x="0" y="1540256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119039" y="8804374"/>
            <a:ext cx="345727" cy="38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88344" y="8529637"/>
            <a:ext cx="2882205" cy="36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Reward Function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988344" y="8952011"/>
            <a:ext cx="15464135" cy="454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Guides learning: penalize high costs, reward clean energy use and stability.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29109" y="544265"/>
            <a:ext cx="8510588" cy="679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Key Decisions for Your RL Agent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9349" y="1382727"/>
            <a:ext cx="17495305" cy="90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83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The RL agent's primary goal is to make optimal decisions at each time step within the microgrid simulation. These decisions directly impact energy costs, grid independence, and renewable energy utilization.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5192" y="3579098"/>
            <a:ext cx="8160841" cy="37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5394" indent="-152697" lvl="1">
              <a:lnSpc>
                <a:spcPts val="3193"/>
              </a:lnSpc>
              <a:buFont typeface="Arial"/>
              <a:buChar char="•"/>
            </a:pPr>
            <a:r>
              <a:rPr lang="en-US" b="true" sz="2024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When to store excess solar energy in batteries.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2999" y="4568013"/>
            <a:ext cx="8160841" cy="37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5394" indent="-152697" lvl="1">
              <a:lnSpc>
                <a:spcPts val="3193"/>
              </a:lnSpc>
              <a:buFont typeface="Arial"/>
              <a:buChar char="•"/>
            </a:pPr>
            <a:r>
              <a:rPr lang="en-US" b="true" sz="2024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When to draw power from the battery.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2999" y="5547403"/>
            <a:ext cx="8160841" cy="40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5" indent="-160238" lvl="1">
              <a:lnSpc>
                <a:spcPts val="3350"/>
              </a:lnSpc>
              <a:buFont typeface="Arial"/>
              <a:buChar char="•"/>
            </a:pPr>
            <a:r>
              <a:rPr lang="en-US" b="true" sz="2124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When to buy electricity from the main grid.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2999" y="6550582"/>
            <a:ext cx="8273034" cy="41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43" indent="-161922" lvl="1">
              <a:lnSpc>
                <a:spcPts val="3386"/>
              </a:lnSpc>
              <a:buFont typeface="Arial"/>
              <a:buChar char="•"/>
            </a:pPr>
            <a:r>
              <a:rPr lang="en-US" b="true" sz="2147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When to sell excess electricity back to the main grid.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239696" y="2556156"/>
            <a:ext cx="7328077" cy="7328077"/>
            <a:chOff x="0" y="0"/>
            <a:chExt cx="10881122" cy="1088112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881106" cy="10881106"/>
            </a:xfrm>
            <a:custGeom>
              <a:avLst/>
              <a:gdLst/>
              <a:ahLst/>
              <a:cxnLst/>
              <a:rect r="r" b="b" t="t" l="l"/>
              <a:pathLst>
                <a:path h="10881106" w="10881106">
                  <a:moveTo>
                    <a:pt x="0" y="0"/>
                  </a:moveTo>
                  <a:lnTo>
                    <a:pt x="10881106" y="0"/>
                  </a:lnTo>
                  <a:lnTo>
                    <a:pt x="10881106" y="10881106"/>
                  </a:lnTo>
                  <a:lnTo>
                    <a:pt x="0" y="10881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15367"/>
            <a:ext cx="16303526" cy="18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Objective Functions: Driving Optimal Behavior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778151"/>
            <a:ext cx="1630352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The agent’s learning is shaped by a reward function that balances financial and environmental goals. This multi-objective optimization is crucial for sustainable microgrid operations.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5" y="5104359"/>
            <a:ext cx="16313051" cy="3643461"/>
            <a:chOff x="0" y="0"/>
            <a:chExt cx="21750735" cy="48579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21737955" cy="4845304"/>
            </a:xfrm>
            <a:custGeom>
              <a:avLst/>
              <a:gdLst/>
              <a:ahLst/>
              <a:cxnLst/>
              <a:rect r="r" b="b" t="t" l="l"/>
              <a:pathLst>
                <a:path h="4845304" w="21737955">
                  <a:moveTo>
                    <a:pt x="0" y="340233"/>
                  </a:moveTo>
                  <a:cubicBezTo>
                    <a:pt x="0" y="152273"/>
                    <a:pt x="152654" y="0"/>
                    <a:pt x="340868" y="0"/>
                  </a:cubicBezTo>
                  <a:lnTo>
                    <a:pt x="21397088" y="0"/>
                  </a:lnTo>
                  <a:cubicBezTo>
                    <a:pt x="21585428" y="0"/>
                    <a:pt x="21737955" y="152273"/>
                    <a:pt x="21737955" y="340233"/>
                  </a:cubicBezTo>
                  <a:lnTo>
                    <a:pt x="21737955" y="4505071"/>
                  </a:lnTo>
                  <a:cubicBezTo>
                    <a:pt x="21737955" y="4693031"/>
                    <a:pt x="21585301" y="4845304"/>
                    <a:pt x="21397088" y="4845304"/>
                  </a:cubicBezTo>
                  <a:lnTo>
                    <a:pt x="340868" y="4845304"/>
                  </a:lnTo>
                  <a:cubicBezTo>
                    <a:pt x="152654" y="4845304"/>
                    <a:pt x="0" y="4692904"/>
                    <a:pt x="0" y="4505071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50655" cy="4858004"/>
            </a:xfrm>
            <a:custGeom>
              <a:avLst/>
              <a:gdLst/>
              <a:ahLst/>
              <a:cxnLst/>
              <a:rect r="r" b="b" t="t" l="l"/>
              <a:pathLst>
                <a:path h="4858004" w="21750655">
                  <a:moveTo>
                    <a:pt x="0" y="346583"/>
                  </a:moveTo>
                  <a:cubicBezTo>
                    <a:pt x="0" y="155194"/>
                    <a:pt x="155448" y="0"/>
                    <a:pt x="347218" y="0"/>
                  </a:cubicBezTo>
                  <a:lnTo>
                    <a:pt x="21403438" y="0"/>
                  </a:lnTo>
                  <a:lnTo>
                    <a:pt x="21403438" y="6350"/>
                  </a:lnTo>
                  <a:lnTo>
                    <a:pt x="21403438" y="0"/>
                  </a:lnTo>
                  <a:cubicBezTo>
                    <a:pt x="21595207" y="0"/>
                    <a:pt x="21750655" y="155194"/>
                    <a:pt x="21750655" y="346583"/>
                  </a:cubicBezTo>
                  <a:lnTo>
                    <a:pt x="21744305" y="346583"/>
                  </a:lnTo>
                  <a:lnTo>
                    <a:pt x="21750655" y="346583"/>
                  </a:lnTo>
                  <a:lnTo>
                    <a:pt x="21750655" y="4511421"/>
                  </a:lnTo>
                  <a:lnTo>
                    <a:pt x="21744305" y="4511421"/>
                  </a:lnTo>
                  <a:lnTo>
                    <a:pt x="21750655" y="4511421"/>
                  </a:lnTo>
                  <a:cubicBezTo>
                    <a:pt x="21750655" y="4702810"/>
                    <a:pt x="21595207" y="4858004"/>
                    <a:pt x="21403438" y="4858004"/>
                  </a:cubicBezTo>
                  <a:lnTo>
                    <a:pt x="21403438" y="4851654"/>
                  </a:lnTo>
                  <a:lnTo>
                    <a:pt x="21403438" y="4858004"/>
                  </a:lnTo>
                  <a:lnTo>
                    <a:pt x="347218" y="4858004"/>
                  </a:lnTo>
                  <a:lnTo>
                    <a:pt x="347218" y="4851654"/>
                  </a:lnTo>
                  <a:lnTo>
                    <a:pt x="347218" y="4858004"/>
                  </a:lnTo>
                  <a:cubicBezTo>
                    <a:pt x="155448" y="4858004"/>
                    <a:pt x="0" y="4702810"/>
                    <a:pt x="0" y="4511421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4511421"/>
                  </a:lnTo>
                  <a:lnTo>
                    <a:pt x="6350" y="4511421"/>
                  </a:lnTo>
                  <a:lnTo>
                    <a:pt x="12700" y="4511421"/>
                  </a:lnTo>
                  <a:cubicBezTo>
                    <a:pt x="12700" y="4695825"/>
                    <a:pt x="162433" y="4845304"/>
                    <a:pt x="347218" y="4845304"/>
                  </a:cubicBezTo>
                  <a:lnTo>
                    <a:pt x="21403438" y="4845304"/>
                  </a:lnTo>
                  <a:cubicBezTo>
                    <a:pt x="21588223" y="4845304"/>
                    <a:pt x="21737955" y="4695825"/>
                    <a:pt x="21737955" y="4511421"/>
                  </a:cubicBezTo>
                  <a:lnTo>
                    <a:pt x="21737955" y="346583"/>
                  </a:lnTo>
                  <a:cubicBezTo>
                    <a:pt x="21737955" y="162179"/>
                    <a:pt x="21588223" y="12700"/>
                    <a:pt x="21403438" y="12700"/>
                  </a:cubicBezTo>
                  <a:lnTo>
                    <a:pt x="347218" y="12700"/>
                  </a:lnTo>
                  <a:lnTo>
                    <a:pt x="347218" y="6350"/>
                  </a:lnTo>
                  <a:lnTo>
                    <a:pt x="347218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1762" y="5118646"/>
            <a:ext cx="5428060" cy="3614886"/>
            <a:chOff x="0" y="0"/>
            <a:chExt cx="7237413" cy="48198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37476" cy="4819904"/>
            </a:xfrm>
            <a:custGeom>
              <a:avLst/>
              <a:gdLst/>
              <a:ahLst/>
              <a:cxnLst/>
              <a:rect r="r" b="b" t="t" l="l"/>
              <a:pathLst>
                <a:path h="4819904" w="7237476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6897243" y="0"/>
                  </a:lnTo>
                  <a:cubicBezTo>
                    <a:pt x="7085203" y="0"/>
                    <a:pt x="7237476" y="152273"/>
                    <a:pt x="7237476" y="340233"/>
                  </a:cubicBezTo>
                  <a:lnTo>
                    <a:pt x="7237476" y="4479671"/>
                  </a:lnTo>
                  <a:cubicBezTo>
                    <a:pt x="7237476" y="4667631"/>
                    <a:pt x="7085203" y="4819904"/>
                    <a:pt x="6897243" y="4819904"/>
                  </a:cubicBezTo>
                  <a:lnTo>
                    <a:pt x="340233" y="4819904"/>
                  </a:lnTo>
                  <a:cubicBezTo>
                    <a:pt x="152273" y="4819904"/>
                    <a:pt x="0" y="4667504"/>
                    <a:pt x="0" y="4479671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85280" y="5383114"/>
            <a:ext cx="4861024" cy="108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Minimize Operating Costs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0" y="6530727"/>
            <a:ext cx="4861024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Reduce energy bills from the grid, minimize battery degradation costs, and optimize renewable self-consumption.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29821" y="5118646"/>
            <a:ext cx="5428209" cy="3614886"/>
            <a:chOff x="0" y="0"/>
            <a:chExt cx="7237612" cy="48198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37603" cy="4819904"/>
            </a:xfrm>
            <a:custGeom>
              <a:avLst/>
              <a:gdLst/>
              <a:ahLst/>
              <a:cxnLst/>
              <a:rect r="r" b="b" t="t" l="l"/>
              <a:pathLst>
                <a:path h="4819904" w="7237603">
                  <a:moveTo>
                    <a:pt x="0" y="0"/>
                  </a:moveTo>
                  <a:lnTo>
                    <a:pt x="7237603" y="0"/>
                  </a:lnTo>
                  <a:lnTo>
                    <a:pt x="7237603" y="4819904"/>
                  </a:lnTo>
                  <a:lnTo>
                    <a:pt x="0" y="4819904"/>
                  </a:lnTo>
                  <a:close/>
                </a:path>
              </a:pathLst>
            </a:custGeom>
            <a:solidFill>
              <a:srgbClr val="D1EFE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29821" y="5118646"/>
            <a:ext cx="38100" cy="3614886"/>
            <a:chOff x="0" y="0"/>
            <a:chExt cx="50800" cy="48198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" cy="4819904"/>
            </a:xfrm>
            <a:custGeom>
              <a:avLst/>
              <a:gdLst/>
              <a:ahLst/>
              <a:cxnLst/>
              <a:rect r="r" b="b" t="t" l="l"/>
              <a:pathLst>
                <a:path h="4819904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4794504"/>
                  </a:lnTo>
                  <a:cubicBezTo>
                    <a:pt x="50800" y="4808474"/>
                    <a:pt x="39370" y="4819904"/>
                    <a:pt x="25400" y="4819904"/>
                  </a:cubicBezTo>
                  <a:cubicBezTo>
                    <a:pt x="11430" y="4819904"/>
                    <a:pt x="0" y="4808474"/>
                    <a:pt x="0" y="4794504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713339" y="5383114"/>
            <a:ext cx="4861172" cy="108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Maximize Clean Energy Use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13339" y="6530727"/>
            <a:ext cx="4861172" cy="146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Prioritize solar/wind power, reduce reliance on fossil fuel-based grid electricity.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858030" y="5118646"/>
            <a:ext cx="5428209" cy="3614886"/>
            <a:chOff x="0" y="0"/>
            <a:chExt cx="7237612" cy="48198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37603" cy="4819904"/>
            </a:xfrm>
            <a:custGeom>
              <a:avLst/>
              <a:gdLst/>
              <a:ahLst/>
              <a:cxnLst/>
              <a:rect r="r" b="b" t="t" l="l"/>
              <a:pathLst>
                <a:path h="4819904" w="7237603">
                  <a:moveTo>
                    <a:pt x="0" y="0"/>
                  </a:moveTo>
                  <a:lnTo>
                    <a:pt x="7237603" y="0"/>
                  </a:lnTo>
                  <a:lnTo>
                    <a:pt x="7237603" y="4819904"/>
                  </a:lnTo>
                  <a:lnTo>
                    <a:pt x="0" y="4819904"/>
                  </a:lnTo>
                  <a:close/>
                </a:path>
              </a:pathLst>
            </a:custGeom>
            <a:solidFill>
              <a:srgbClr val="D1EFE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58030" y="5118646"/>
            <a:ext cx="38100" cy="3614886"/>
            <a:chOff x="0" y="0"/>
            <a:chExt cx="50800" cy="48198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800" cy="4819904"/>
            </a:xfrm>
            <a:custGeom>
              <a:avLst/>
              <a:gdLst/>
              <a:ahLst/>
              <a:cxnLst/>
              <a:rect r="r" b="b" t="t" l="l"/>
              <a:pathLst>
                <a:path h="4819904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4794504"/>
                  </a:lnTo>
                  <a:cubicBezTo>
                    <a:pt x="50800" y="4808474"/>
                    <a:pt x="39370" y="4819904"/>
                    <a:pt x="25400" y="4819904"/>
                  </a:cubicBezTo>
                  <a:cubicBezTo>
                    <a:pt x="11430" y="4819904"/>
                    <a:pt x="0" y="4808474"/>
                    <a:pt x="0" y="4794504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445604" y="5383114"/>
            <a:ext cx="4252912" cy="55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Ensure Reliability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41548" y="5999112"/>
            <a:ext cx="4861172" cy="146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Maintain stable power supply for consumers, avoiding outages and demand-supply imbalances.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09042" y="891480"/>
            <a:ext cx="12873484" cy="84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0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Expected Outcomes of Your Simulation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992315" y="2246262"/>
            <a:ext cx="2068265" cy="1587252"/>
            <a:chOff x="0" y="0"/>
            <a:chExt cx="2757687" cy="2116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2744978" cy="2103628"/>
            </a:xfrm>
            <a:custGeom>
              <a:avLst/>
              <a:gdLst/>
              <a:ahLst/>
              <a:cxnLst/>
              <a:rect r="r" b="b" t="t" l="l"/>
              <a:pathLst>
                <a:path h="2103628" w="2744978">
                  <a:moveTo>
                    <a:pt x="0" y="311658"/>
                  </a:moveTo>
                  <a:cubicBezTo>
                    <a:pt x="0" y="139573"/>
                    <a:pt x="139700" y="0"/>
                    <a:pt x="312166" y="0"/>
                  </a:cubicBezTo>
                  <a:lnTo>
                    <a:pt x="2432812" y="0"/>
                  </a:lnTo>
                  <a:cubicBezTo>
                    <a:pt x="2605151" y="0"/>
                    <a:pt x="2744978" y="139573"/>
                    <a:pt x="2744978" y="311658"/>
                  </a:cubicBezTo>
                  <a:lnTo>
                    <a:pt x="2744978" y="1791970"/>
                  </a:lnTo>
                  <a:cubicBezTo>
                    <a:pt x="2744978" y="1964055"/>
                    <a:pt x="2605278" y="2103628"/>
                    <a:pt x="2432812" y="2103628"/>
                  </a:cubicBezTo>
                  <a:lnTo>
                    <a:pt x="312166" y="2103628"/>
                  </a:lnTo>
                  <a:cubicBezTo>
                    <a:pt x="139700" y="2103628"/>
                    <a:pt x="0" y="1964055"/>
                    <a:pt x="0" y="1791970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7678" cy="2116328"/>
            </a:xfrm>
            <a:custGeom>
              <a:avLst/>
              <a:gdLst/>
              <a:ahLst/>
              <a:cxnLst/>
              <a:rect r="r" b="b" t="t" l="l"/>
              <a:pathLst>
                <a:path h="2116328" w="2757678">
                  <a:moveTo>
                    <a:pt x="0" y="318008"/>
                  </a:moveTo>
                  <a:cubicBezTo>
                    <a:pt x="0" y="142367"/>
                    <a:pt x="142621" y="0"/>
                    <a:pt x="318516" y="0"/>
                  </a:cubicBezTo>
                  <a:lnTo>
                    <a:pt x="2439162" y="0"/>
                  </a:lnTo>
                  <a:lnTo>
                    <a:pt x="2439162" y="6350"/>
                  </a:lnTo>
                  <a:lnTo>
                    <a:pt x="2439162" y="0"/>
                  </a:lnTo>
                  <a:cubicBezTo>
                    <a:pt x="2615057" y="0"/>
                    <a:pt x="2757678" y="142367"/>
                    <a:pt x="2757678" y="318008"/>
                  </a:cubicBezTo>
                  <a:lnTo>
                    <a:pt x="2751328" y="318008"/>
                  </a:lnTo>
                  <a:lnTo>
                    <a:pt x="2757678" y="318008"/>
                  </a:lnTo>
                  <a:lnTo>
                    <a:pt x="2757678" y="1798320"/>
                  </a:lnTo>
                  <a:lnTo>
                    <a:pt x="2751328" y="1798320"/>
                  </a:lnTo>
                  <a:lnTo>
                    <a:pt x="2757678" y="1798320"/>
                  </a:lnTo>
                  <a:cubicBezTo>
                    <a:pt x="2757678" y="1973961"/>
                    <a:pt x="2615057" y="2116328"/>
                    <a:pt x="2439162" y="2116328"/>
                  </a:cubicBezTo>
                  <a:lnTo>
                    <a:pt x="2439162" y="2109978"/>
                  </a:lnTo>
                  <a:lnTo>
                    <a:pt x="2439162" y="2116328"/>
                  </a:lnTo>
                  <a:lnTo>
                    <a:pt x="318516" y="2116328"/>
                  </a:lnTo>
                  <a:lnTo>
                    <a:pt x="318516" y="2109978"/>
                  </a:lnTo>
                  <a:lnTo>
                    <a:pt x="318516" y="2116328"/>
                  </a:lnTo>
                  <a:cubicBezTo>
                    <a:pt x="142621" y="2116328"/>
                    <a:pt x="0" y="1973961"/>
                    <a:pt x="0" y="1798320"/>
                  </a:cubicBezTo>
                  <a:lnTo>
                    <a:pt x="0" y="318008"/>
                  </a:lnTo>
                  <a:lnTo>
                    <a:pt x="6350" y="318008"/>
                  </a:lnTo>
                  <a:lnTo>
                    <a:pt x="0" y="318008"/>
                  </a:lnTo>
                  <a:moveTo>
                    <a:pt x="12700" y="318008"/>
                  </a:moveTo>
                  <a:lnTo>
                    <a:pt x="12700" y="1798320"/>
                  </a:lnTo>
                  <a:lnTo>
                    <a:pt x="6350" y="1798320"/>
                  </a:lnTo>
                  <a:lnTo>
                    <a:pt x="12700" y="1798320"/>
                  </a:lnTo>
                  <a:cubicBezTo>
                    <a:pt x="12700" y="1966976"/>
                    <a:pt x="149606" y="2103628"/>
                    <a:pt x="318516" y="2103628"/>
                  </a:cubicBezTo>
                  <a:lnTo>
                    <a:pt x="2439162" y="2103628"/>
                  </a:lnTo>
                  <a:cubicBezTo>
                    <a:pt x="2608072" y="2103628"/>
                    <a:pt x="2744978" y="1966976"/>
                    <a:pt x="2744978" y="1798320"/>
                  </a:cubicBezTo>
                  <a:lnTo>
                    <a:pt x="2744978" y="318008"/>
                  </a:lnTo>
                  <a:cubicBezTo>
                    <a:pt x="2744978" y="149352"/>
                    <a:pt x="2608072" y="12700"/>
                    <a:pt x="2439162" y="12700"/>
                  </a:cubicBezTo>
                  <a:lnTo>
                    <a:pt x="318516" y="12700"/>
                  </a:lnTo>
                  <a:lnTo>
                    <a:pt x="318516" y="6350"/>
                  </a:lnTo>
                  <a:lnTo>
                    <a:pt x="318516" y="12700"/>
                  </a:lnTo>
                  <a:cubicBezTo>
                    <a:pt x="149606" y="12700"/>
                    <a:pt x="12700" y="149352"/>
                    <a:pt x="12700" y="318008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4843760" y="2811661"/>
            <a:ext cx="365224" cy="456456"/>
            <a:chOff x="0" y="0"/>
            <a:chExt cx="486965" cy="60860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486918" cy="608584"/>
            </a:xfrm>
            <a:custGeom>
              <a:avLst/>
              <a:gdLst/>
              <a:ahLst/>
              <a:cxnLst/>
              <a:rect r="r" b="b" t="t" l="l"/>
              <a:pathLst>
                <a:path h="608584" w="486918">
                  <a:moveTo>
                    <a:pt x="0" y="0"/>
                  </a:moveTo>
                  <a:lnTo>
                    <a:pt x="486918" y="0"/>
                  </a:lnTo>
                  <a:lnTo>
                    <a:pt x="486918" y="608584"/>
                  </a:lnTo>
                  <a:lnTo>
                    <a:pt x="0" y="60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34" r="-9" b="-5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315521" y="2491680"/>
            <a:ext cx="4738985" cy="5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Significant Cost Savings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15521" y="3067794"/>
            <a:ext cx="6764536" cy="50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Demonstrable reduction in microgrid operating expenses.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85595" y="3816846"/>
            <a:ext cx="11063585" cy="14288"/>
            <a:chOff x="0" y="0"/>
            <a:chExt cx="14751447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751431" cy="19050"/>
            </a:xfrm>
            <a:custGeom>
              <a:avLst/>
              <a:gdLst/>
              <a:ahLst/>
              <a:cxnLst/>
              <a:rect r="r" b="b" t="t" l="l"/>
              <a:pathLst>
                <a:path h="19050" w="14751431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4741906" y="0"/>
                  </a:lnTo>
                  <a:cubicBezTo>
                    <a:pt x="14747114" y="0"/>
                    <a:pt x="14751431" y="4318"/>
                    <a:pt x="14751431" y="9525"/>
                  </a:cubicBezTo>
                  <a:cubicBezTo>
                    <a:pt x="14751431" y="14732"/>
                    <a:pt x="14747114" y="19050"/>
                    <a:pt x="14741906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963019" y="3953767"/>
            <a:ext cx="4127004" cy="1587253"/>
            <a:chOff x="0" y="0"/>
            <a:chExt cx="5502672" cy="21163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5489956" cy="2103628"/>
            </a:xfrm>
            <a:custGeom>
              <a:avLst/>
              <a:gdLst/>
              <a:ahLst/>
              <a:cxnLst/>
              <a:rect r="r" b="b" t="t" l="l"/>
              <a:pathLst>
                <a:path h="2103628" w="5489956">
                  <a:moveTo>
                    <a:pt x="0" y="311658"/>
                  </a:moveTo>
                  <a:cubicBezTo>
                    <a:pt x="0" y="139573"/>
                    <a:pt x="140081" y="0"/>
                    <a:pt x="312801" y="0"/>
                  </a:cubicBezTo>
                  <a:lnTo>
                    <a:pt x="5177155" y="0"/>
                  </a:lnTo>
                  <a:cubicBezTo>
                    <a:pt x="5349875" y="0"/>
                    <a:pt x="5489956" y="139573"/>
                    <a:pt x="5489956" y="311658"/>
                  </a:cubicBezTo>
                  <a:lnTo>
                    <a:pt x="5489956" y="1791970"/>
                  </a:lnTo>
                  <a:cubicBezTo>
                    <a:pt x="5489956" y="1964055"/>
                    <a:pt x="5349875" y="2103628"/>
                    <a:pt x="5177155" y="2103628"/>
                  </a:cubicBezTo>
                  <a:lnTo>
                    <a:pt x="312801" y="2103628"/>
                  </a:lnTo>
                  <a:cubicBezTo>
                    <a:pt x="140081" y="2103628"/>
                    <a:pt x="0" y="1964055"/>
                    <a:pt x="0" y="1791970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02656" cy="2116328"/>
            </a:xfrm>
            <a:custGeom>
              <a:avLst/>
              <a:gdLst/>
              <a:ahLst/>
              <a:cxnLst/>
              <a:rect r="r" b="b" t="t" l="l"/>
              <a:pathLst>
                <a:path h="2116328" w="5502656">
                  <a:moveTo>
                    <a:pt x="0" y="318008"/>
                  </a:moveTo>
                  <a:cubicBezTo>
                    <a:pt x="0" y="142367"/>
                    <a:pt x="142875" y="0"/>
                    <a:pt x="319151" y="0"/>
                  </a:cubicBezTo>
                  <a:lnTo>
                    <a:pt x="5183505" y="0"/>
                  </a:lnTo>
                  <a:lnTo>
                    <a:pt x="5183505" y="6350"/>
                  </a:lnTo>
                  <a:lnTo>
                    <a:pt x="5183505" y="0"/>
                  </a:lnTo>
                  <a:cubicBezTo>
                    <a:pt x="5359781" y="0"/>
                    <a:pt x="5502656" y="142367"/>
                    <a:pt x="5502656" y="318008"/>
                  </a:cubicBezTo>
                  <a:lnTo>
                    <a:pt x="5496306" y="318008"/>
                  </a:lnTo>
                  <a:lnTo>
                    <a:pt x="5502656" y="318008"/>
                  </a:lnTo>
                  <a:lnTo>
                    <a:pt x="5502656" y="1798320"/>
                  </a:lnTo>
                  <a:lnTo>
                    <a:pt x="5496306" y="1798320"/>
                  </a:lnTo>
                  <a:lnTo>
                    <a:pt x="5502656" y="1798320"/>
                  </a:lnTo>
                  <a:cubicBezTo>
                    <a:pt x="5502656" y="1973961"/>
                    <a:pt x="5359781" y="2116328"/>
                    <a:pt x="5183505" y="2116328"/>
                  </a:cubicBezTo>
                  <a:lnTo>
                    <a:pt x="5183505" y="2109978"/>
                  </a:lnTo>
                  <a:lnTo>
                    <a:pt x="5183505" y="2116328"/>
                  </a:lnTo>
                  <a:lnTo>
                    <a:pt x="319151" y="2116328"/>
                  </a:lnTo>
                  <a:lnTo>
                    <a:pt x="319151" y="2109978"/>
                  </a:lnTo>
                  <a:lnTo>
                    <a:pt x="319151" y="2116328"/>
                  </a:lnTo>
                  <a:cubicBezTo>
                    <a:pt x="142875" y="2116328"/>
                    <a:pt x="0" y="1973961"/>
                    <a:pt x="0" y="1798320"/>
                  </a:cubicBezTo>
                  <a:lnTo>
                    <a:pt x="0" y="318008"/>
                  </a:lnTo>
                  <a:lnTo>
                    <a:pt x="6350" y="318008"/>
                  </a:lnTo>
                  <a:lnTo>
                    <a:pt x="0" y="318008"/>
                  </a:lnTo>
                  <a:moveTo>
                    <a:pt x="12700" y="318008"/>
                  </a:moveTo>
                  <a:lnTo>
                    <a:pt x="12700" y="1798320"/>
                  </a:lnTo>
                  <a:lnTo>
                    <a:pt x="6350" y="1798320"/>
                  </a:lnTo>
                  <a:lnTo>
                    <a:pt x="12700" y="1798320"/>
                  </a:lnTo>
                  <a:cubicBezTo>
                    <a:pt x="12700" y="1966976"/>
                    <a:pt x="149860" y="2103628"/>
                    <a:pt x="319151" y="2103628"/>
                  </a:cubicBezTo>
                  <a:lnTo>
                    <a:pt x="5183505" y="2103628"/>
                  </a:lnTo>
                  <a:cubicBezTo>
                    <a:pt x="5352796" y="2103628"/>
                    <a:pt x="5489956" y="1966849"/>
                    <a:pt x="5489956" y="1798320"/>
                  </a:cubicBezTo>
                  <a:lnTo>
                    <a:pt x="5489956" y="318008"/>
                  </a:lnTo>
                  <a:cubicBezTo>
                    <a:pt x="5489956" y="149479"/>
                    <a:pt x="5352796" y="12700"/>
                    <a:pt x="5183505" y="12700"/>
                  </a:cubicBezTo>
                  <a:lnTo>
                    <a:pt x="319151" y="12700"/>
                  </a:lnTo>
                  <a:lnTo>
                    <a:pt x="319151" y="6350"/>
                  </a:lnTo>
                  <a:lnTo>
                    <a:pt x="319151" y="12700"/>
                  </a:lnTo>
                  <a:cubicBezTo>
                    <a:pt x="149860" y="12700"/>
                    <a:pt x="12700" y="149479"/>
                    <a:pt x="12700" y="318008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4843909" y="4519166"/>
            <a:ext cx="365224" cy="456456"/>
            <a:chOff x="0" y="0"/>
            <a:chExt cx="486965" cy="60860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86918" cy="608584"/>
            </a:xfrm>
            <a:custGeom>
              <a:avLst/>
              <a:gdLst/>
              <a:ahLst/>
              <a:cxnLst/>
              <a:rect r="r" b="b" t="t" l="l"/>
              <a:pathLst>
                <a:path h="608584" w="486918">
                  <a:moveTo>
                    <a:pt x="0" y="0"/>
                  </a:moveTo>
                  <a:lnTo>
                    <a:pt x="486918" y="0"/>
                  </a:lnTo>
                  <a:lnTo>
                    <a:pt x="486918" y="608584"/>
                  </a:lnTo>
                  <a:lnTo>
                    <a:pt x="0" y="60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34" r="-9" b="-538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344966" y="4199185"/>
            <a:ext cx="6609160" cy="5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Enhanced Renewable Integration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44966" y="4775299"/>
            <a:ext cx="6609160" cy="50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Higher utilization of onsite clean energy generation.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215039" y="5524351"/>
            <a:ext cx="10034141" cy="14288"/>
            <a:chOff x="0" y="0"/>
            <a:chExt cx="13378855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378814" cy="19050"/>
            </a:xfrm>
            <a:custGeom>
              <a:avLst/>
              <a:gdLst/>
              <a:ahLst/>
              <a:cxnLst/>
              <a:rect r="r" b="b" t="t" l="l"/>
              <a:pathLst>
                <a:path h="19050" w="13378814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3369289" y="0"/>
                  </a:lnTo>
                  <a:cubicBezTo>
                    <a:pt x="13374497" y="0"/>
                    <a:pt x="13378814" y="4318"/>
                    <a:pt x="13378814" y="9525"/>
                  </a:cubicBezTo>
                  <a:cubicBezTo>
                    <a:pt x="13378814" y="14732"/>
                    <a:pt x="13374497" y="19050"/>
                    <a:pt x="13369289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33575" y="5661272"/>
            <a:ext cx="6185744" cy="1587253"/>
            <a:chOff x="0" y="0"/>
            <a:chExt cx="8247658" cy="21163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8234935" cy="2103628"/>
            </a:xfrm>
            <a:custGeom>
              <a:avLst/>
              <a:gdLst/>
              <a:ahLst/>
              <a:cxnLst/>
              <a:rect r="r" b="b" t="t" l="l"/>
              <a:pathLst>
                <a:path h="2103628" w="8234935">
                  <a:moveTo>
                    <a:pt x="0" y="311658"/>
                  </a:moveTo>
                  <a:cubicBezTo>
                    <a:pt x="0" y="139573"/>
                    <a:pt x="140208" y="0"/>
                    <a:pt x="313055" y="0"/>
                  </a:cubicBezTo>
                  <a:lnTo>
                    <a:pt x="7921879" y="0"/>
                  </a:lnTo>
                  <a:cubicBezTo>
                    <a:pt x="8094726" y="0"/>
                    <a:pt x="8234935" y="139573"/>
                    <a:pt x="8234935" y="311658"/>
                  </a:cubicBezTo>
                  <a:lnTo>
                    <a:pt x="8234935" y="1791970"/>
                  </a:lnTo>
                  <a:cubicBezTo>
                    <a:pt x="8234935" y="1964055"/>
                    <a:pt x="8094726" y="2103628"/>
                    <a:pt x="7921879" y="2103628"/>
                  </a:cubicBezTo>
                  <a:lnTo>
                    <a:pt x="313055" y="2103628"/>
                  </a:lnTo>
                  <a:cubicBezTo>
                    <a:pt x="140208" y="2103628"/>
                    <a:pt x="0" y="1964055"/>
                    <a:pt x="0" y="1791970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47635" cy="2116328"/>
            </a:xfrm>
            <a:custGeom>
              <a:avLst/>
              <a:gdLst/>
              <a:ahLst/>
              <a:cxnLst/>
              <a:rect r="r" b="b" t="t" l="l"/>
              <a:pathLst>
                <a:path h="2116328" w="8247635">
                  <a:moveTo>
                    <a:pt x="0" y="318008"/>
                  </a:moveTo>
                  <a:cubicBezTo>
                    <a:pt x="0" y="142367"/>
                    <a:pt x="143002" y="0"/>
                    <a:pt x="319405" y="0"/>
                  </a:cubicBezTo>
                  <a:lnTo>
                    <a:pt x="7928229" y="0"/>
                  </a:lnTo>
                  <a:lnTo>
                    <a:pt x="7928229" y="6350"/>
                  </a:lnTo>
                  <a:lnTo>
                    <a:pt x="7928229" y="0"/>
                  </a:lnTo>
                  <a:cubicBezTo>
                    <a:pt x="8104632" y="0"/>
                    <a:pt x="8247635" y="142367"/>
                    <a:pt x="8247635" y="318008"/>
                  </a:cubicBezTo>
                  <a:lnTo>
                    <a:pt x="8241285" y="318008"/>
                  </a:lnTo>
                  <a:lnTo>
                    <a:pt x="8247635" y="318008"/>
                  </a:lnTo>
                  <a:lnTo>
                    <a:pt x="8247635" y="1798320"/>
                  </a:lnTo>
                  <a:lnTo>
                    <a:pt x="8241285" y="1798320"/>
                  </a:lnTo>
                  <a:lnTo>
                    <a:pt x="8247635" y="1798320"/>
                  </a:lnTo>
                  <a:cubicBezTo>
                    <a:pt x="8247635" y="1973961"/>
                    <a:pt x="8104632" y="2116328"/>
                    <a:pt x="7928229" y="2116328"/>
                  </a:cubicBezTo>
                  <a:lnTo>
                    <a:pt x="7928229" y="2109978"/>
                  </a:lnTo>
                  <a:lnTo>
                    <a:pt x="7928229" y="2116328"/>
                  </a:lnTo>
                  <a:lnTo>
                    <a:pt x="319405" y="2116328"/>
                  </a:lnTo>
                  <a:lnTo>
                    <a:pt x="319405" y="2109978"/>
                  </a:lnTo>
                  <a:lnTo>
                    <a:pt x="319405" y="2116328"/>
                  </a:lnTo>
                  <a:cubicBezTo>
                    <a:pt x="143002" y="2116328"/>
                    <a:pt x="0" y="1973961"/>
                    <a:pt x="0" y="1798320"/>
                  </a:cubicBezTo>
                  <a:lnTo>
                    <a:pt x="0" y="318008"/>
                  </a:lnTo>
                  <a:lnTo>
                    <a:pt x="6350" y="318008"/>
                  </a:lnTo>
                  <a:lnTo>
                    <a:pt x="0" y="318008"/>
                  </a:lnTo>
                  <a:moveTo>
                    <a:pt x="12700" y="318008"/>
                  </a:moveTo>
                  <a:lnTo>
                    <a:pt x="12700" y="1798320"/>
                  </a:lnTo>
                  <a:lnTo>
                    <a:pt x="6350" y="1798320"/>
                  </a:lnTo>
                  <a:lnTo>
                    <a:pt x="12700" y="1798320"/>
                  </a:lnTo>
                  <a:cubicBezTo>
                    <a:pt x="12700" y="1966976"/>
                    <a:pt x="149987" y="2103628"/>
                    <a:pt x="319405" y="2103628"/>
                  </a:cubicBezTo>
                  <a:lnTo>
                    <a:pt x="7928229" y="2103628"/>
                  </a:lnTo>
                  <a:cubicBezTo>
                    <a:pt x="8097648" y="2103628"/>
                    <a:pt x="8234935" y="1966849"/>
                    <a:pt x="8234935" y="1798320"/>
                  </a:cubicBezTo>
                  <a:lnTo>
                    <a:pt x="8234935" y="318008"/>
                  </a:lnTo>
                  <a:cubicBezTo>
                    <a:pt x="8234934" y="149479"/>
                    <a:pt x="8097647" y="12700"/>
                    <a:pt x="7928229" y="12700"/>
                  </a:cubicBezTo>
                  <a:lnTo>
                    <a:pt x="319405" y="12700"/>
                  </a:lnTo>
                  <a:lnTo>
                    <a:pt x="319405" y="6350"/>
                  </a:lnTo>
                  <a:lnTo>
                    <a:pt x="319405" y="12700"/>
                  </a:lnTo>
                  <a:cubicBezTo>
                    <a:pt x="149987" y="12700"/>
                    <a:pt x="12700" y="149479"/>
                    <a:pt x="12700" y="318008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4843760" y="6226671"/>
            <a:ext cx="365224" cy="456456"/>
            <a:chOff x="0" y="0"/>
            <a:chExt cx="486965" cy="608608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486918" cy="608584"/>
            </a:xfrm>
            <a:custGeom>
              <a:avLst/>
              <a:gdLst/>
              <a:ahLst/>
              <a:cxnLst/>
              <a:rect r="r" b="b" t="t" l="l"/>
              <a:pathLst>
                <a:path h="608584" w="486918">
                  <a:moveTo>
                    <a:pt x="0" y="0"/>
                  </a:moveTo>
                  <a:lnTo>
                    <a:pt x="486918" y="0"/>
                  </a:lnTo>
                  <a:lnTo>
                    <a:pt x="486918" y="608584"/>
                  </a:lnTo>
                  <a:lnTo>
                    <a:pt x="0" y="60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34" r="-9" b="-538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405069" y="5671989"/>
            <a:ext cx="4674989" cy="5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Improved Grid Stability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05069" y="6578202"/>
            <a:ext cx="8077349" cy="50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Reduced strain on the main grid through intelligent energy arbitrage.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244334" y="7231856"/>
            <a:ext cx="9004846" cy="14288"/>
            <a:chOff x="0" y="0"/>
            <a:chExt cx="12006462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006453" cy="19050"/>
            </a:xfrm>
            <a:custGeom>
              <a:avLst/>
              <a:gdLst/>
              <a:ahLst/>
              <a:cxnLst/>
              <a:rect r="r" b="b" t="t" l="l"/>
              <a:pathLst>
                <a:path h="19050" w="12006453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1996928" y="0"/>
                  </a:lnTo>
                  <a:cubicBezTo>
                    <a:pt x="12002135" y="0"/>
                    <a:pt x="12006453" y="4318"/>
                    <a:pt x="12006453" y="9525"/>
                  </a:cubicBezTo>
                  <a:cubicBezTo>
                    <a:pt x="12006453" y="14732"/>
                    <a:pt x="12002135" y="19050"/>
                    <a:pt x="11996928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04280" y="7368779"/>
            <a:ext cx="8244482" cy="2002780"/>
            <a:chOff x="0" y="0"/>
            <a:chExt cx="10992643" cy="26703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50" y="6350"/>
              <a:ext cx="10979912" cy="2657729"/>
            </a:xfrm>
            <a:custGeom>
              <a:avLst/>
              <a:gdLst/>
              <a:ahLst/>
              <a:cxnLst/>
              <a:rect r="r" b="b" t="t" l="l"/>
              <a:pathLst>
                <a:path h="2657729" w="10979912">
                  <a:moveTo>
                    <a:pt x="0" y="311658"/>
                  </a:moveTo>
                  <a:cubicBezTo>
                    <a:pt x="0" y="139573"/>
                    <a:pt x="140081" y="0"/>
                    <a:pt x="312801" y="0"/>
                  </a:cubicBezTo>
                  <a:lnTo>
                    <a:pt x="10667111" y="0"/>
                  </a:lnTo>
                  <a:cubicBezTo>
                    <a:pt x="10839831" y="0"/>
                    <a:pt x="10979912" y="139573"/>
                    <a:pt x="10979912" y="311658"/>
                  </a:cubicBezTo>
                  <a:lnTo>
                    <a:pt x="10979912" y="2346071"/>
                  </a:lnTo>
                  <a:cubicBezTo>
                    <a:pt x="10979912" y="2518156"/>
                    <a:pt x="10839831" y="2657729"/>
                    <a:pt x="10667111" y="2657729"/>
                  </a:cubicBezTo>
                  <a:lnTo>
                    <a:pt x="312801" y="2657729"/>
                  </a:lnTo>
                  <a:cubicBezTo>
                    <a:pt x="140081" y="2657729"/>
                    <a:pt x="0" y="2518156"/>
                    <a:pt x="0" y="2346071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92612" cy="2670429"/>
            </a:xfrm>
            <a:custGeom>
              <a:avLst/>
              <a:gdLst/>
              <a:ahLst/>
              <a:cxnLst/>
              <a:rect r="r" b="b" t="t" l="l"/>
              <a:pathLst>
                <a:path h="2670429" w="10992612">
                  <a:moveTo>
                    <a:pt x="0" y="318008"/>
                  </a:moveTo>
                  <a:cubicBezTo>
                    <a:pt x="0" y="142367"/>
                    <a:pt x="142875" y="0"/>
                    <a:pt x="319151" y="0"/>
                  </a:cubicBezTo>
                  <a:lnTo>
                    <a:pt x="10673461" y="0"/>
                  </a:lnTo>
                  <a:lnTo>
                    <a:pt x="10673461" y="6350"/>
                  </a:lnTo>
                  <a:lnTo>
                    <a:pt x="10673461" y="0"/>
                  </a:lnTo>
                  <a:cubicBezTo>
                    <a:pt x="10849737" y="0"/>
                    <a:pt x="10992612" y="142367"/>
                    <a:pt x="10992612" y="318008"/>
                  </a:cubicBezTo>
                  <a:lnTo>
                    <a:pt x="10986262" y="318008"/>
                  </a:lnTo>
                  <a:lnTo>
                    <a:pt x="10992612" y="318008"/>
                  </a:lnTo>
                  <a:lnTo>
                    <a:pt x="10992612" y="2352421"/>
                  </a:lnTo>
                  <a:lnTo>
                    <a:pt x="10986262" y="2352421"/>
                  </a:lnTo>
                  <a:lnTo>
                    <a:pt x="10992612" y="2352421"/>
                  </a:lnTo>
                  <a:cubicBezTo>
                    <a:pt x="10992612" y="2528062"/>
                    <a:pt x="10849737" y="2670429"/>
                    <a:pt x="10673461" y="2670429"/>
                  </a:cubicBezTo>
                  <a:lnTo>
                    <a:pt x="10673461" y="2664079"/>
                  </a:lnTo>
                  <a:lnTo>
                    <a:pt x="10673461" y="2670429"/>
                  </a:lnTo>
                  <a:lnTo>
                    <a:pt x="319151" y="2670429"/>
                  </a:lnTo>
                  <a:lnTo>
                    <a:pt x="319151" y="2664079"/>
                  </a:lnTo>
                  <a:lnTo>
                    <a:pt x="319151" y="2670429"/>
                  </a:lnTo>
                  <a:cubicBezTo>
                    <a:pt x="142875" y="2670429"/>
                    <a:pt x="0" y="2528062"/>
                    <a:pt x="0" y="2352421"/>
                  </a:cubicBezTo>
                  <a:lnTo>
                    <a:pt x="0" y="318008"/>
                  </a:lnTo>
                  <a:lnTo>
                    <a:pt x="6350" y="318008"/>
                  </a:lnTo>
                  <a:lnTo>
                    <a:pt x="0" y="318008"/>
                  </a:lnTo>
                  <a:moveTo>
                    <a:pt x="12700" y="318008"/>
                  </a:moveTo>
                  <a:lnTo>
                    <a:pt x="12700" y="2352421"/>
                  </a:lnTo>
                  <a:lnTo>
                    <a:pt x="6350" y="2352421"/>
                  </a:lnTo>
                  <a:lnTo>
                    <a:pt x="12700" y="2352421"/>
                  </a:lnTo>
                  <a:cubicBezTo>
                    <a:pt x="12700" y="2521077"/>
                    <a:pt x="149860" y="2657729"/>
                    <a:pt x="319151" y="2657729"/>
                  </a:cubicBezTo>
                  <a:lnTo>
                    <a:pt x="10673461" y="2657729"/>
                  </a:lnTo>
                  <a:cubicBezTo>
                    <a:pt x="10842752" y="2657729"/>
                    <a:pt x="10979912" y="2520950"/>
                    <a:pt x="10979912" y="2352421"/>
                  </a:cubicBezTo>
                  <a:lnTo>
                    <a:pt x="10979912" y="318008"/>
                  </a:lnTo>
                  <a:cubicBezTo>
                    <a:pt x="10979912" y="149479"/>
                    <a:pt x="10842752" y="12700"/>
                    <a:pt x="10673461" y="12700"/>
                  </a:cubicBezTo>
                  <a:lnTo>
                    <a:pt x="319151" y="12700"/>
                  </a:lnTo>
                  <a:lnTo>
                    <a:pt x="319151" y="6350"/>
                  </a:lnTo>
                  <a:lnTo>
                    <a:pt x="319151" y="12700"/>
                  </a:lnTo>
                  <a:cubicBezTo>
                    <a:pt x="149860" y="12700"/>
                    <a:pt x="12700" y="149479"/>
                    <a:pt x="12700" y="318008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4843909" y="8141940"/>
            <a:ext cx="365224" cy="456456"/>
            <a:chOff x="0" y="0"/>
            <a:chExt cx="486965" cy="608608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486918" cy="608584"/>
            </a:xfrm>
            <a:custGeom>
              <a:avLst/>
              <a:gdLst/>
              <a:ahLst/>
              <a:cxnLst/>
              <a:rect r="r" b="b" t="t" l="l"/>
              <a:pathLst>
                <a:path h="608584" w="486918">
                  <a:moveTo>
                    <a:pt x="0" y="0"/>
                  </a:moveTo>
                  <a:lnTo>
                    <a:pt x="486918" y="0"/>
                  </a:lnTo>
                  <a:lnTo>
                    <a:pt x="486918" y="608584"/>
                  </a:lnTo>
                  <a:lnTo>
                    <a:pt x="0" y="60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34" r="-9" b="-538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403705" y="7614196"/>
            <a:ext cx="4862066" cy="5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Robust Decision-Making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03705" y="8190310"/>
            <a:ext cx="7715548" cy="91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 proven, adaptive control strategy for dynamic energy 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581299"/>
            <a:ext cx="11912948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Next Steps &amp; Further Exploration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819822"/>
            <a:ext cx="1630352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Experiment with RL Algorithms: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Compare the performance of different algorithms (e.g., Q-learning vs. DDPG) in your microgrid.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826199"/>
            <a:ext cx="16303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Integrate Predictive Models: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Use short-term forecasts for solar generation and demand to inform the agent's decisions.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447482"/>
            <a:ext cx="16303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Scalability &amp; Generalization: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Test your agent on different microgrid configurations and varying environmental conditions.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774" y="6068765"/>
            <a:ext cx="16303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Multi-Agent Systems: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Explore collaborative or competitive agents in a larger energy network.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758583"/>
            <a:ext cx="16303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Real-World Data Integration: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Transition from synthetic to real microgrid data for higher fidelity simulations.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774" y="8071545"/>
            <a:ext cx="16303526" cy="70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2"/>
              </a:lnSpc>
            </a:pPr>
            <a:r>
              <a:rPr lang="en-US" sz="35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DAGwu_BLhd8</dc:identifier>
  <dcterms:modified xsi:type="dcterms:W3CDTF">2011-08-01T06:04:30Z</dcterms:modified>
  <cp:revision>1</cp:revision>
  <dc:title>mini project ppt.pptx</dc:title>
</cp:coreProperties>
</file>